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8" r:id="rId6"/>
    <p:sldId id="25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52" autoAdjust="0"/>
  </p:normalViewPr>
  <p:slideViewPr>
    <p:cSldViewPr snapToGrid="0" snapToObjects="1">
      <p:cViewPr>
        <p:scale>
          <a:sx n="69" d="100"/>
          <a:sy n="69" d="100"/>
        </p:scale>
        <p:origin x="540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H Research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India Hackathon 2026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6576"/>
            <a:ext cx="2176272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25296"/>
            <a:ext cx="12191695" cy="0"/>
          </a:xfrm>
          <a:prstGeom prst="line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13D9F"/>
          </a:solidFill>
          <a:ln/>
        </p:spPr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0" y="241300"/>
            <a:ext cx="116128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47973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hyperlink" Target="https://drive.google.com/file/d/1MtdBjbsbe71ODzVC4wfgrNmJwZF5oWQB/view?usp=sharing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hyperlink" Target="https://aicte-demo-website.vercel.app/" TargetMode="External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19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18.png"/><Relationship Id="rId18" Type="http://schemas.openxmlformats.org/officeDocument/2006/relationships/image" Target="../media/image_arch_v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
<Relationships xmlns="http://schemas.openxmlformats.org/package/2006/relationships"><Relationship Id="rId8" Type="http://schemas.openxmlformats.org/officeDocument/2006/relationships/hyperlink" Target="https://drive.google.com/file/d/1MtdBjbsbe71ODzVC4wfgrNmJwZF5oWQB/view?usp=sharing" TargetMode="External"/><Relationship Id="rId13" Type="http://schemas.openxmlformats.org/officeDocument/2006/relationships/image" Target="../media/image9.png"/><Relationship Id="rId3" Type="http://schemas.openxmlformats.org/officeDocument/2006/relationships/image" Target="../media/image_ref_color.png"/><Relationship Id="rId7" Type="http://schemas.openxmlformats.org/officeDocument/2006/relationships/hyperlink" Target="https://www.aicte.gov.in/" TargetMode="External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pib.gov.in/Pressreleaseshare.aspx?PRID=1983013&amp;lang=2&amp;reg=48" TargetMode="External"/><Relationship Id="rId11" Type="http://schemas.openxmlformats.org/officeDocument/2006/relationships/image" Target="../media/image37.png"/><Relationship Id="rId5" Type="http://schemas.openxmlformats.org/officeDocument/2006/relationships/hyperlink" Target="https://drive.google.com/file/d/1Pb4L6odvzCIleYTBY5zniTBb1RJevJ6j/view?usp=sharing" TargetMode="External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_link_color.png"/><Relationship Id="rId9" Type="http://schemas.openxmlformats.org/officeDocument/2006/relationships/image" Target="../media/image35.png"/><Relationship Id="rId14" Type="http://schemas.openxmlformats.org/officeDocument/2006/relationships/image" Target="../media/image39.jpeg"/><Relationship Id="rId17" Type="http://schemas.openxmlformats.org/officeDocument/2006/relationships/hyperlink" Target="https://github.com/sanjayvasudevan-c/SIH-demo-source-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163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368714" cy="207645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1" y="1063836"/>
            <a:ext cx="6439900" cy="5200000"/>
          </a:xfrm>
          <a:prstGeom prst="roundRect">
            <a:avLst>
              <a:gd name="adj" fmla="val 7000"/>
            </a:avLst>
          </a:prstGeom>
          <a:noFill/>
          <a:ln w="28575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SIH26262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Integrated AICTE Approval Workflow Automation, Compliance Monitoring and Alert Management System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Smart Automation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197385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GeoLogics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49312" y="0"/>
            <a:ext cx="7750687" cy="1143000"/>
          </a:xfrm>
        </p:spPr>
        <p:txBody>
          <a:bodyPr/>
          <a:lstStyle/>
          <a:p>
            <a:pPr eaLnBrk="1" hangingPunct="1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APPROVAL AND OPERATIONS COMPLIANCE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@GeoLogics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252246"/>
            <a:ext cx="17663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BA1CF87-388C-A0A0-14F8-B7A25ECF94B5}"/>
              </a:ext>
            </a:extLst>
          </p:cNvPr>
          <p:cNvSpPr/>
          <p:nvPr/>
        </p:nvSpPr>
        <p:spPr>
          <a:xfrm>
            <a:off x="256032" y="1260430"/>
            <a:ext cx="3785616" cy="3400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181699E-4DFE-DB2E-067F-CC953BDD917E}"/>
              </a:ext>
            </a:extLst>
          </p:cNvPr>
          <p:cNvSpPr/>
          <p:nvPr/>
        </p:nvSpPr>
        <p:spPr>
          <a:xfrm>
            <a:off x="4203191" y="1260430"/>
            <a:ext cx="3649009" cy="3400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C9B943-D1B9-23C5-81CD-330A07FC4EAA}"/>
              </a:ext>
            </a:extLst>
          </p:cNvPr>
          <p:cNvSpPr/>
          <p:nvPr/>
        </p:nvSpPr>
        <p:spPr>
          <a:xfrm>
            <a:off x="8143336" y="1260430"/>
            <a:ext cx="3865666" cy="3400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8AE117-2D8C-CC0E-20DF-33089119A407}"/>
              </a:ext>
            </a:extLst>
          </p:cNvPr>
          <p:cNvSpPr txBox="1"/>
          <p:nvPr/>
        </p:nvSpPr>
        <p:spPr>
          <a:xfrm>
            <a:off x="810883" y="2040000"/>
            <a:ext cx="3230765" cy="2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300" b="1" dirty="0"/>
              <a:t>1. Auto-routing and fair assignment </a:t>
            </a:r>
            <a:r>
              <a:rPr lang="en-US" sz="1300" b="0" dirty="0"/>
              <a:t>across APH stages by role, region and workload.</a:t>
            </a:r>
          </a:p>
          <a:p>
            <a:pPr algn="l">
              <a:spcAft>
                <a:spcPts val="300"/>
              </a:spcAft>
            </a:pPr>
            <a:r>
              <a:rPr lang="en-US" sz="1300" b="1" dirty="0"/>
              <a:t>2. One deadline engine </a:t>
            </a:r>
            <a:r>
              <a:rPr lang="en-US" sz="1300" b="0" dirty="0"/>
              <a:t>for stages, EVC, undertakings and leases; compliance evidence tracked.</a:t>
            </a:r>
          </a:p>
          <a:p>
            <a:pPr algn="l">
              <a:spcAft>
                <a:spcPts val="300"/>
              </a:spcAft>
            </a:pPr>
            <a:r>
              <a:rPr lang="en-US" sz="1300" b="1" dirty="0"/>
              <a:t>3. Reminders </a:t>
            </a:r>
            <a:r>
              <a:rPr lang="en-US" sz="1300" b="0" dirty="0"/>
              <a:t>at 30, 15, 7 days, then 3-level escalation (below).</a:t>
            </a:r>
          </a:p>
          <a:p>
            <a:pPr algn="l">
              <a:spcAft>
                <a:spcPts val="300"/>
              </a:spcAft>
            </a:pPr>
            <a:r>
              <a:rPr lang="en-US" sz="1300" b="1" dirty="0"/>
              <a:t>4. Advisory entry check: </a:t>
            </a:r>
            <a:r>
              <a:rPr lang="en-US" sz="1300" b="0" dirty="0"/>
              <a:t>flags inconsistent form values; never blocks submission.</a:t>
            </a:r>
          </a:p>
          <a:p>
            <a:pPr algn="l">
              <a:spcAft>
                <a:spcPts val="300"/>
              </a:spcAft>
            </a:pPr>
            <a:r>
              <a:rPr lang="en-US" sz="1300" b="1" dirty="0"/>
              <a:t>5. Versioned rules: </a:t>
            </a:r>
            <a:r>
              <a:rPr lang="en-US" sz="1300" b="0" dirty="0"/>
              <a:t>changes apply to new applications; in-flight cases keep the version they started with.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2B8296-4950-D8C9-280A-0EB4113945D3}"/>
              </a:ext>
            </a:extLst>
          </p:cNvPr>
          <p:cNvSpPr txBox="1"/>
          <p:nvPr/>
        </p:nvSpPr>
        <p:spPr>
          <a:xfrm>
            <a:off x="4203192" y="2080000"/>
            <a:ext cx="3649008" cy="2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400" b="1" dirty="0"/>
              <a:t>1. No silent pendency</a:t>
            </a:r>
            <a:r>
              <a:rPr lang="en-US" sz="1400" b="0" dirty="0"/>
              <a:t>; every case has an owner, a clock and a reason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2. EVC never missed</a:t>
            </a:r>
            <a:r>
              <a:rPr lang="en-US" sz="1400" b="0" dirty="0"/>
              <a:t>; queue, committee proposal, escalation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3. Undertakings and leases </a:t>
            </a:r>
            <a:r>
              <a:rPr lang="en-US" sz="1400" b="0" dirty="0"/>
              <a:t>linked to due dates and a verifier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4. Automatic alerts and reports </a:t>
            </a:r>
            <a:r>
              <a:rPr lang="en-US" sz="1400" b="0" dirty="0"/>
              <a:t>for every officer level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5. Human oversight</a:t>
            </a:r>
            <a:r>
              <a:rPr lang="en-US" sz="1400" b="0" dirty="0"/>
              <a:t>; only the competent authority decides, never the scrutiny officer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620C5E-F409-80EF-4EFA-0C9B8D1F58CE}"/>
              </a:ext>
            </a:extLst>
          </p:cNvPr>
          <p:cNvSpPr txBox="1"/>
          <p:nvPr/>
        </p:nvSpPr>
        <p:spPr>
          <a:xfrm>
            <a:off x="8203721" y="2080000"/>
            <a:ext cx="3732247" cy="2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400" b="1" dirty="0"/>
              <a:t>1. Action Center: </a:t>
            </a:r>
            <a:r>
              <a:rPr lang="en-US" sz="1400" b="0" dirty="0"/>
              <a:t>why, who and by when, for every role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2. Fair clock: </a:t>
            </a:r>
            <a:r>
              <a:rPr lang="en-US" sz="1400" b="0" dirty="0"/>
              <a:t>pauses while the college holds the case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3. Explainable assignment: </a:t>
            </a:r>
            <a:r>
              <a:rPr lang="en-US" sz="1400" b="0" dirty="0"/>
              <a:t>each task shows why that officer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4. Tamper-evident audit: </a:t>
            </a:r>
            <a:r>
              <a:rPr lang="en-US" sz="1400" b="0" dirty="0"/>
              <a:t>enforced by the database, hash-chained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5. Self-hosted; ML check: </a:t>
            </a:r>
            <a:r>
              <a:rPr lang="en-US" sz="1400" b="0" dirty="0"/>
              <a:t>Isolation Forest, advisory only, never blocks submissions (0.97 precision, 0.89 recall on 2,000 synthetic forms)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2A57AE-2265-9363-C3EA-D233D9DF845A}"/>
              </a:ext>
            </a:extLst>
          </p:cNvPr>
          <p:cNvSpPr txBox="1"/>
          <p:nvPr/>
        </p:nvSpPr>
        <p:spPr>
          <a:xfrm>
            <a:off x="1049770" y="1412995"/>
            <a:ext cx="256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PROPOSED SOLUTION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B703E1-AD69-1C3E-1865-EAD53B08C469}"/>
              </a:ext>
            </a:extLst>
          </p:cNvPr>
          <p:cNvCxnSpPr/>
          <p:nvPr/>
        </p:nvCxnSpPr>
        <p:spPr>
          <a:xfrm>
            <a:off x="266391" y="1980356"/>
            <a:ext cx="37752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DD4245C-354B-59DF-5DFA-EFAAA4FB3647}"/>
              </a:ext>
            </a:extLst>
          </p:cNvPr>
          <p:cNvSpPr txBox="1"/>
          <p:nvPr/>
        </p:nvSpPr>
        <p:spPr>
          <a:xfrm>
            <a:off x="4734919" y="1314733"/>
            <a:ext cx="3011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HOW IT ADDRESSES THE PROBLEM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A92CF0-A42A-B381-F103-FE159AC7AE97}"/>
              </a:ext>
            </a:extLst>
          </p:cNvPr>
          <p:cNvCxnSpPr>
            <a:cxnSpLocks/>
          </p:cNvCxnSpPr>
          <p:nvPr/>
        </p:nvCxnSpPr>
        <p:spPr>
          <a:xfrm>
            <a:off x="4203191" y="2001328"/>
            <a:ext cx="36490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6" name="TextBox 15365">
            <a:extLst>
              <a:ext uri="{FF2B5EF4-FFF2-40B4-BE49-F238E27FC236}">
                <a16:creationId xmlns:a16="http://schemas.microsoft.com/office/drawing/2014/main" id="{4814D70A-6C24-1193-6F56-158EAFF885D9}"/>
              </a:ext>
            </a:extLst>
          </p:cNvPr>
          <p:cNvSpPr txBox="1"/>
          <p:nvPr/>
        </p:nvSpPr>
        <p:spPr>
          <a:xfrm>
            <a:off x="8737600" y="1343851"/>
            <a:ext cx="316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NOVELTY OF SOLUTION</a:t>
            </a:r>
          </a:p>
        </p:txBody>
      </p:sp>
      <p:cxnSp>
        <p:nvCxnSpPr>
          <p:cNvPr id="15368" name="Straight Connector 15367">
            <a:extLst>
              <a:ext uri="{FF2B5EF4-FFF2-40B4-BE49-F238E27FC236}">
                <a16:creationId xmlns:a16="http://schemas.microsoft.com/office/drawing/2014/main" id="{6DC59312-0503-2F86-27D6-FE452B58D699}"/>
              </a:ext>
            </a:extLst>
          </p:cNvPr>
          <p:cNvCxnSpPr/>
          <p:nvPr/>
        </p:nvCxnSpPr>
        <p:spPr>
          <a:xfrm>
            <a:off x="8143336" y="2001328"/>
            <a:ext cx="38656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56BB5F1F-59C3-A7F2-FA7E-4740B31F7762}"/>
              </a:ext>
            </a:extLst>
          </p:cNvPr>
          <p:cNvSpPr/>
          <p:nvPr/>
        </p:nvSpPr>
        <p:spPr>
          <a:xfrm>
            <a:off x="256032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Submit</a:t>
            </a:r>
          </a:p>
        </p:txBody>
      </p:sp>
      <p:sp>
        <p:nvSpPr>
          <p:cNvPr id="15371" name="Rectangle 15370">
            <a:extLst>
              <a:ext uri="{FF2B5EF4-FFF2-40B4-BE49-F238E27FC236}">
                <a16:creationId xmlns:a16="http://schemas.microsoft.com/office/drawing/2014/main" id="{DC5A178A-E5C9-43ED-5171-838C6AF656F2}"/>
              </a:ext>
            </a:extLst>
          </p:cNvPr>
          <p:cNvSpPr/>
          <p:nvPr/>
        </p:nvSpPr>
        <p:spPr>
          <a:xfrm>
            <a:off x="1989313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Scrutiny</a:t>
            </a:r>
          </a:p>
        </p:txBody>
      </p:sp>
      <p:sp>
        <p:nvSpPr>
          <p:cNvPr id="15373" name="Rectangle 15372">
            <a:extLst>
              <a:ext uri="{FF2B5EF4-FFF2-40B4-BE49-F238E27FC236}">
                <a16:creationId xmlns:a16="http://schemas.microsoft.com/office/drawing/2014/main" id="{ACAFACEA-DCBD-D6DF-C405-7998B767983B}"/>
              </a:ext>
            </a:extLst>
          </p:cNvPr>
          <p:cNvSpPr/>
          <p:nvPr/>
        </p:nvSpPr>
        <p:spPr>
          <a:xfrm>
            <a:off x="3722594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EVC</a:t>
            </a:r>
          </a:p>
        </p:txBody>
      </p:sp>
      <p:sp>
        <p:nvSpPr>
          <p:cNvPr id="15375" name="Rectangle 15374">
            <a:extLst>
              <a:ext uri="{FF2B5EF4-FFF2-40B4-BE49-F238E27FC236}">
                <a16:creationId xmlns:a16="http://schemas.microsoft.com/office/drawing/2014/main" id="{C4C29AA3-1071-A87B-23D0-ADE398B77554}"/>
              </a:ext>
            </a:extLst>
          </p:cNvPr>
          <p:cNvSpPr/>
          <p:nvPr/>
        </p:nvSpPr>
        <p:spPr>
          <a:xfrm>
            <a:off x="5455875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SAC/SHC</a:t>
            </a:r>
          </a:p>
        </p:txBody>
      </p:sp>
      <p:sp>
        <p:nvSpPr>
          <p:cNvPr id="15377" name="Rectangle 15376">
            <a:extLst>
              <a:ext uri="{FF2B5EF4-FFF2-40B4-BE49-F238E27FC236}">
                <a16:creationId xmlns:a16="http://schemas.microsoft.com/office/drawing/2014/main" id="{B2D68229-BB94-1692-6114-82DBD818E969}"/>
              </a:ext>
            </a:extLst>
          </p:cNvPr>
          <p:cNvSpPr/>
          <p:nvPr/>
        </p:nvSpPr>
        <p:spPr>
          <a:xfrm>
            <a:off x="7189156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Decision</a:t>
            </a:r>
          </a:p>
        </p:txBody>
      </p:sp>
      <p:sp>
        <p:nvSpPr>
          <p:cNvPr id="15379" name="Rectangle 15378">
            <a:extLst>
              <a:ext uri="{FF2B5EF4-FFF2-40B4-BE49-F238E27FC236}">
                <a16:creationId xmlns:a16="http://schemas.microsoft.com/office/drawing/2014/main" id="{1B82BCCB-D445-6145-81C5-1B5A48CA0191}"/>
              </a:ext>
            </a:extLst>
          </p:cNvPr>
          <p:cNvSpPr/>
          <p:nvPr/>
        </p:nvSpPr>
        <p:spPr>
          <a:xfrm>
            <a:off x="8922437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Compliance</a:t>
            </a:r>
          </a:p>
        </p:txBody>
      </p:sp>
      <p:sp>
        <p:nvSpPr>
          <p:cNvPr id="15381" name="Rectangle 15380">
            <a:extLst>
              <a:ext uri="{FF2B5EF4-FFF2-40B4-BE49-F238E27FC236}">
                <a16:creationId xmlns:a16="http://schemas.microsoft.com/office/drawing/2014/main" id="{A062E850-9B97-A9AB-F06C-BE2ACACF6E7D}"/>
              </a:ext>
            </a:extLst>
          </p:cNvPr>
          <p:cNvSpPr/>
          <p:nvPr/>
        </p:nvSpPr>
        <p:spPr>
          <a:xfrm>
            <a:off x="10655718" y="5560000"/>
            <a:ext cx="1353281" cy="63550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Closed</a:t>
            </a:r>
          </a:p>
        </p:txBody>
      </p:sp>
      <p:cxnSp>
        <p:nvCxnSpPr>
          <p:cNvPr id="15387" name="Straight Arrow Connector 15386">
            <a:extLst>
              <a:ext uri="{FF2B5EF4-FFF2-40B4-BE49-F238E27FC236}">
                <a16:creationId xmlns:a16="http://schemas.microsoft.com/office/drawing/2014/main" id="{F1423CAA-4C18-07F2-33C7-353A79752319}"/>
              </a:ext>
            </a:extLst>
          </p:cNvPr>
          <p:cNvCxnSpPr/>
          <p:nvPr/>
        </p:nvCxnSpPr>
        <p:spPr>
          <a:xfrm>
            <a:off x="1649313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9" name="Straight Arrow Connector 15388">
            <a:extLst>
              <a:ext uri="{FF2B5EF4-FFF2-40B4-BE49-F238E27FC236}">
                <a16:creationId xmlns:a16="http://schemas.microsoft.com/office/drawing/2014/main" id="{09A92FE9-C8E9-95F9-9806-22741224D4B0}"/>
              </a:ext>
            </a:extLst>
          </p:cNvPr>
          <p:cNvCxnSpPr/>
          <p:nvPr/>
        </p:nvCxnSpPr>
        <p:spPr>
          <a:xfrm>
            <a:off x="3382594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1" name="Straight Arrow Connector 15390">
            <a:extLst>
              <a:ext uri="{FF2B5EF4-FFF2-40B4-BE49-F238E27FC236}">
                <a16:creationId xmlns:a16="http://schemas.microsoft.com/office/drawing/2014/main" id="{C62CC2A4-5799-2E85-4BF6-36AE2CFF8B89}"/>
              </a:ext>
            </a:extLst>
          </p:cNvPr>
          <p:cNvCxnSpPr/>
          <p:nvPr/>
        </p:nvCxnSpPr>
        <p:spPr>
          <a:xfrm>
            <a:off x="5115875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3" name="Straight Arrow Connector 15392">
            <a:extLst>
              <a:ext uri="{FF2B5EF4-FFF2-40B4-BE49-F238E27FC236}">
                <a16:creationId xmlns:a16="http://schemas.microsoft.com/office/drawing/2014/main" id="{F2553DCE-2B33-E16C-CA31-88746975EA0C}"/>
              </a:ext>
            </a:extLst>
          </p:cNvPr>
          <p:cNvCxnSpPr/>
          <p:nvPr/>
        </p:nvCxnSpPr>
        <p:spPr>
          <a:xfrm>
            <a:off x="6849156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5" name="Straight Arrow Connector 15394">
            <a:extLst>
              <a:ext uri="{FF2B5EF4-FFF2-40B4-BE49-F238E27FC236}">
                <a16:creationId xmlns:a16="http://schemas.microsoft.com/office/drawing/2014/main" id="{3458668F-4B8D-D93E-EE31-6A1039BD9BED}"/>
              </a:ext>
            </a:extLst>
          </p:cNvPr>
          <p:cNvCxnSpPr/>
          <p:nvPr/>
        </p:nvCxnSpPr>
        <p:spPr>
          <a:xfrm>
            <a:off x="8582437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7" name="Straight Arrow Connector 15396">
            <a:extLst>
              <a:ext uri="{FF2B5EF4-FFF2-40B4-BE49-F238E27FC236}">
                <a16:creationId xmlns:a16="http://schemas.microsoft.com/office/drawing/2014/main" id="{AD307E08-4A83-4530-825F-AD1C5BB808E7}"/>
              </a:ext>
            </a:extLst>
          </p:cNvPr>
          <p:cNvCxnSpPr/>
          <p:nvPr/>
        </p:nvCxnSpPr>
        <p:spPr>
          <a:xfrm>
            <a:off x="10315718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8F6A1BD-7748-020E-F7FC-D87ACC513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84" y="1343851"/>
            <a:ext cx="594922" cy="537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17AF4A-0B55-A11C-DF82-1D2439E69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956" y="1382974"/>
            <a:ext cx="552478" cy="5588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75A839-38B4-4074-CDC1-C26C01206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484" y="1315860"/>
            <a:ext cx="654084" cy="6159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4FE716-AE7D-71BE-3D9F-F41954298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37" y="2200000"/>
            <a:ext cx="576638" cy="550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6643CB-3CBB-8F9B-9857-C03431DFF3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685" y="3000000"/>
            <a:ext cx="419122" cy="5397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B4994A-D6A4-49CC-A882-A47BFD2007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730" y="3750000"/>
            <a:ext cx="604644" cy="520727"/>
          </a:xfrm>
          <a:prstGeom prst="rect">
            <a:avLst/>
          </a:prstGeom>
        </p:spPr>
      </p:pic>
      <p:sp>
        <p:nvSpPr>
          <p:cNvPr id="3000" name="Ladder Panel"/>
          <p:cNvSpPr/>
          <p:nvPr/>
        </p:nvSpPr>
        <p:spPr>
          <a:xfrm>
            <a:off x="256032" y="4730000"/>
            <a:ext cx="11752970" cy="700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2F5DAA"/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endParaRPr lang="en-US"/>
          </a:p>
        </p:txBody>
      </p:sp>
      <p:sp>
        <p:nvSpPr>
          <p:cNvPr id="3001" name="Ladder Label"/>
          <p:cNvSpPr txBox="1"/>
          <p:nvPr/>
        </p:nvSpPr>
        <p:spPr>
          <a:xfrm>
            <a:off x="330000" y="4780000"/>
            <a:ext cx="17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2F5DAA"/>
                </a:solidFill>
              </a:rPr>
              <a:t>ESCALATION LADDER</a:t>
            </a:r>
          </a:p>
          <a:p>
            <a:pPr algn="ctr"/>
            <a:r>
              <a:rPr lang="en-US" sz="1000" b="0" dirty="0">
                <a:solidFill>
                  <a:srgbClr val="595959"/>
                </a:solidFill>
              </a:rPr>
              <a:t>day offsets are configurable</a:t>
            </a:r>
          </a:p>
        </p:txBody>
      </p:sp>
      <p:sp>
        <p:nvSpPr>
          <p:cNvPr id="3002" name="Ladder Level 1"/>
          <p:cNvSpPr/>
          <p:nvPr/>
        </p:nvSpPr>
        <p:spPr>
          <a:xfrm>
            <a:off x="2150000" y="4800000"/>
            <a:ext cx="3100000" cy="560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D9A400"/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262626"/>
                </a:solidFill>
              </a:rPr>
              <a:t>Level 1 · Day +3 overdue</a:t>
            </a:r>
          </a:p>
          <a:p>
            <a:pPr algn="ctr"/>
            <a:r>
              <a:rPr lang="en-US" sz="1100" b="0" dirty="0">
                <a:solidFill>
                  <a:srgbClr val="262626"/>
                </a:solidFill>
              </a:rPr>
              <a:t>Senior officer notified</a:t>
            </a:r>
          </a:p>
        </p:txBody>
      </p:sp>
      <p:sp>
        <p:nvSpPr>
          <p:cNvPr id="3003" name="Ladder Level 2"/>
          <p:cNvSpPr/>
          <p:nvPr/>
        </p:nvSpPr>
        <p:spPr>
          <a:xfrm>
            <a:off x="5350000" y="4800000"/>
            <a:ext cx="3100000" cy="560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E8742A"/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262626"/>
                </a:solidFill>
              </a:rPr>
              <a:t>Level 2 · Day +7 overdue</a:t>
            </a:r>
          </a:p>
          <a:p>
            <a:pPr algn="ctr"/>
            <a:r>
              <a:rPr lang="en-US" sz="1100" b="0" dirty="0">
                <a:solidFill>
                  <a:srgbClr val="262626"/>
                </a:solidFill>
              </a:rPr>
              <a:t>Super senior officer notified</a:t>
            </a:r>
          </a:p>
        </p:txBody>
      </p:sp>
      <p:sp>
        <p:nvSpPr>
          <p:cNvPr id="3004" name="Ladder Level 3"/>
          <p:cNvSpPr/>
          <p:nvPr/>
        </p:nvSpPr>
        <p:spPr>
          <a:xfrm>
            <a:off x="8559236" y="4800000"/>
            <a:ext cx="3100000" cy="560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B8321F"/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262626"/>
                </a:solidFill>
              </a:rPr>
              <a:t>Level 3 · Day +14 overdue</a:t>
            </a:r>
          </a:p>
          <a:p>
            <a:pPr algn="ctr"/>
            <a:r>
              <a:rPr lang="en-US" sz="1100" b="0" dirty="0">
                <a:solidFill>
                  <a:srgbClr val="262626"/>
                </a:solidFill>
              </a:rPr>
              <a:t>HoD notified, copy to competent authority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@GeoLogics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034BFC-36A1-9503-519B-91EF45D6130C}"/>
              </a:ext>
            </a:extLst>
          </p:cNvPr>
          <p:cNvSpPr txBox="1"/>
          <p:nvPr/>
        </p:nvSpPr>
        <p:spPr>
          <a:xfrm>
            <a:off x="128685" y="956371"/>
            <a:ext cx="1190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SYSTEM ARCHITECTURE:                                                                                                        TECH STACK: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6A1516-B1FA-6475-A241-4C51B570946D}"/>
              </a:ext>
            </a:extLst>
          </p:cNvPr>
          <p:cNvCxnSpPr/>
          <p:nvPr/>
        </p:nvCxnSpPr>
        <p:spPr>
          <a:xfrm>
            <a:off x="-46619" y="1324638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66B3A00-4A26-F290-41E8-133F8B7B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479" y="1418475"/>
            <a:ext cx="863981" cy="8639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9DE1C1-82A7-BAF3-9A7D-74963AA47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90" y="1391416"/>
            <a:ext cx="863981" cy="8639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512A36-5A73-D37D-9052-69986756A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3814" y="1403956"/>
            <a:ext cx="893017" cy="8930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8E70B3-94AB-313A-DA5D-FB4278006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3512" y="1286351"/>
            <a:ext cx="1028111" cy="10281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4D0C40D-5750-CBBD-7C1E-2810AFA098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2647" y="2496614"/>
            <a:ext cx="850134" cy="85013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8C1EF75-B76C-8EAB-C588-6D2FE12F4C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2338" y="2466805"/>
            <a:ext cx="1027495" cy="102749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13BB96C-46DB-C2F5-B2B7-9A8DF3E562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5140" y="2503458"/>
            <a:ext cx="850134" cy="85013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8BB285F-DB00-5BC7-14B6-97445C8028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8061" y="2466805"/>
            <a:ext cx="863981" cy="86398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FDD9C65-74C9-B714-876E-71D2F6F22A78}"/>
              </a:ext>
            </a:extLst>
          </p:cNvPr>
          <p:cNvSpPr txBox="1"/>
          <p:nvPr/>
        </p:nvSpPr>
        <p:spPr>
          <a:xfrm rot="10800000" flipV="1">
            <a:off x="8265852" y="2301114"/>
            <a:ext cx="3879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PostgreSQL 16           Prisma ORM            React 18                      Express.js                    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A9E052-C276-C3EE-594A-54045E30627D}"/>
              </a:ext>
            </a:extLst>
          </p:cNvPr>
          <p:cNvSpPr txBox="1"/>
          <p:nvPr/>
        </p:nvSpPr>
        <p:spPr>
          <a:xfrm>
            <a:off x="8183788" y="3257866"/>
            <a:ext cx="3879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Tailwind.css                     Nginx                     Node.js 22                          TypeScript 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71503EC-EAC9-ECEF-AE94-3F596B9D0F0B}"/>
              </a:ext>
            </a:extLst>
          </p:cNvPr>
          <p:cNvCxnSpPr>
            <a:cxnSpLocks/>
          </p:cNvCxnSpPr>
          <p:nvPr/>
        </p:nvCxnSpPr>
        <p:spPr>
          <a:xfrm>
            <a:off x="7994337" y="3489032"/>
            <a:ext cx="42488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0003920-DEF4-4305-9913-C280DF468121}"/>
              </a:ext>
            </a:extLst>
          </p:cNvPr>
          <p:cNvSpPr txBox="1"/>
          <p:nvPr/>
        </p:nvSpPr>
        <p:spPr>
          <a:xfrm>
            <a:off x="8037734" y="3497968"/>
            <a:ext cx="41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Demo:</a:t>
            </a:r>
            <a:r>
              <a:rPr lang="en-IN" sz="1100" dirty="0">
                <a:solidFill>
                  <a:srgbClr val="404040"/>
                </a:solidFill>
              </a:rPr>
              <a:t xml:space="preserve">  prototype, ~40% implemented</a:t>
            </a:r>
          </a:p>
        </p:txBody>
      </p:sp>
      <p:sp>
        <p:nvSpPr>
          <p:cNvPr id="54" name="Prototype Link Label"/>
          <p:cNvSpPr txBox="1"/>
          <p:nvPr/>
        </p:nvSpPr>
        <p:spPr>
          <a:xfrm>
            <a:off x="8331211" y="5468018"/>
            <a:ext cx="1517904" cy="365760"/>
          </a:xfrm>
          <a:prstGeom prst="rect">
            <a:avLst/>
          </a:prstGeom>
          <a:noFill/>
        </p:spPr>
        <p:txBody>
          <a:bodyPr wrap="none" lIns="91440" tIns="45720" rIns="0" bIns="45720" rtlCol="0" anchor="t">
            <a:noAutofit/>
          </a:bodyPr>
          <a:lstStyle/>
          <a:p>
            <a:r>
              <a:rPr lang="en-IN" b="1" dirty="0"/>
              <a:t>Prototype link:</a:t>
            </a:r>
          </a:p>
        </p:txBody>
      </p:sp>
      <p:sp>
        <p:nvSpPr>
          <p:cNvPr id="17411" name="Prototype Link"/>
          <p:cNvSpPr txBox="1"/>
          <p:nvPr/>
        </p:nvSpPr>
        <p:spPr>
          <a:xfrm>
            <a:off x="10277856" y="5468018"/>
            <a:ext cx="1463040" cy="365760"/>
          </a:xfrm>
          <a:prstGeom prst="rect">
            <a:avLst/>
          </a:prstGeom>
          <a:noFill/>
        </p:spPr>
        <p:txBody>
          <a:bodyPr wrap="none" lIns="0" tIns="45720" rIns="0" bIns="45720" rtlCol="0" anchor="t">
            <a:noAutofit/>
          </a:bodyPr>
          <a:lstStyle/>
          <a:p>
            <a:r>
              <a:rPr lang="en-IN" b="1" dirty="0">
                <a:hlinkClick r:id="rId12"/>
              </a:rPr>
              <a:t>Click here!</a:t>
            </a:r>
          </a:p>
        </p:txBody>
      </p:sp>
      <p:sp>
        <p:nvSpPr>
          <p:cNvPr id="17412" name="Demo Video Link Label"/>
          <p:cNvSpPr txBox="1"/>
          <p:nvPr/>
        </p:nvSpPr>
        <p:spPr>
          <a:xfrm>
            <a:off x="8331211" y="6016658"/>
            <a:ext cx="1737360" cy="365760"/>
          </a:xfrm>
          <a:prstGeom prst="rect">
            <a:avLst/>
          </a:prstGeom>
          <a:noFill/>
        </p:spPr>
        <p:txBody>
          <a:bodyPr wrap="none" lIns="91440" tIns="45720" rIns="0" bIns="45720" rtlCol="0" anchor="t">
            <a:noAutofit/>
          </a:bodyPr>
          <a:lstStyle/>
          <a:p>
            <a:r>
              <a:rPr lang="en-IN" b="1" dirty="0"/>
              <a:t>Demo Video link:</a:t>
            </a:r>
          </a:p>
        </p:txBody>
      </p:sp>
      <p:sp>
        <p:nvSpPr>
          <p:cNvPr id="17413" name="Demo Video Link"/>
          <p:cNvSpPr txBox="1"/>
          <p:nvPr/>
        </p:nvSpPr>
        <p:spPr>
          <a:xfrm>
            <a:off x="10515600" y="6016658"/>
            <a:ext cx="1463040" cy="365760"/>
          </a:xfrm>
          <a:prstGeom prst="rect">
            <a:avLst/>
          </a:prstGeom>
          <a:noFill/>
        </p:spPr>
        <p:txBody>
          <a:bodyPr wrap="none" lIns="0" tIns="45720" rIns="0" bIns="45720" rtlCol="0" anchor="t">
            <a:noAutofit/>
          </a:bodyPr>
          <a:lstStyle/>
          <a:p>
            <a:r>
              <a:rPr lang="en-IN" b="1" u="sng" dirty="0">
                <a:solidFill>
                  <a:schemeClr val="accent1">
                    <a:lumMod val="75000"/>
                  </a:schemeClr>
                </a:solidFill>
                <a:hlinkClick r:id="rId13"/>
              </a:rPr>
              <a:t>Click here!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6C6BF8-26B7-6370-6053-8D8A457D5A4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5420" t="2704" r="14160" b="20910"/>
          <a:stretch>
            <a:fillRect/>
          </a:stretch>
        </p:blipFill>
        <p:spPr>
          <a:xfrm>
            <a:off x="9866228" y="5518310"/>
            <a:ext cx="340742" cy="272962"/>
          </a:xfrm>
          <a:prstGeom prst="rect">
            <a:avLst/>
          </a:prstGeom>
        </p:spPr>
      </p:pic>
      <p:sp>
        <p:nvSpPr>
          <p:cNvPr id="21" name="Oval 20" descr="Your startup LOGO">
            <a:extLst>
              <a:ext uri="{FF2B5EF4-FFF2-40B4-BE49-F238E27FC236}">
                <a16:creationId xmlns:a16="http://schemas.microsoft.com/office/drawing/2014/main" id="{5883023D-AA24-A023-3BA3-C6A095AE4A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86496"/>
            <a:ext cx="1766314" cy="8698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DCC6BE-F55F-4635-3725-9810045820AB}"/>
              </a:ext>
            </a:extLst>
          </p:cNvPr>
          <p:cNvCxnSpPr>
            <a:cxnSpLocks/>
          </p:cNvCxnSpPr>
          <p:nvPr/>
        </p:nvCxnSpPr>
        <p:spPr>
          <a:xfrm>
            <a:off x="8037734" y="1325703"/>
            <a:ext cx="0" cy="5027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AEEEEAA-ECE1-A067-8478-FD406630766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20" y="1362926"/>
            <a:ext cx="7947717" cy="50037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69FE26-0B65-528C-1203-497D94B1DB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8783" y="3816082"/>
            <a:ext cx="2023182" cy="16839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EEBC57-8F03-AEDE-0D6E-3D0E43ED689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83787" y="3812101"/>
            <a:ext cx="1848255" cy="16820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01EE24-8A60-0DCE-F8EB-33CBE8813C5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5420" t="2704" r="14160" b="20910"/>
          <a:stretch>
            <a:fillRect/>
          </a:stretch>
        </p:blipFill>
        <p:spPr>
          <a:xfrm>
            <a:off x="10099580" y="6066950"/>
            <a:ext cx="340742" cy="2729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</a:rPr>
              <a:t>@</a:t>
            </a:r>
            <a:r>
              <a:rPr lang="en-US" dirty="0" err="1">
                <a:solidFill>
                  <a:prstClr val="white"/>
                </a:solidFill>
              </a:rPr>
              <a:t>GeoLogics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19B0C4-C0C9-8B8B-4D06-3B4FE110C95D}"/>
              </a:ext>
            </a:extLst>
          </p:cNvPr>
          <p:cNvSpPr txBox="1"/>
          <p:nvPr/>
        </p:nvSpPr>
        <p:spPr>
          <a:xfrm>
            <a:off x="0" y="1024128"/>
            <a:ext cx="5729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FEASIBILITY-PHASED ROADMAP AND INDICATIVE COST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BC7E53-9561-6935-4247-9CC242459D02}"/>
              </a:ext>
            </a:extLst>
          </p:cNvPr>
          <p:cNvCxnSpPr>
            <a:cxnSpLocks/>
          </p:cNvCxnSpPr>
          <p:nvPr/>
        </p:nvCxnSpPr>
        <p:spPr>
          <a:xfrm>
            <a:off x="0" y="1402597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62C8A3-7F34-0318-BA47-29479BC1BB4B}"/>
              </a:ext>
            </a:extLst>
          </p:cNvPr>
          <p:cNvCxnSpPr/>
          <p:nvPr/>
        </p:nvCxnSpPr>
        <p:spPr>
          <a:xfrm>
            <a:off x="6095999" y="1402597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0C6194-022B-7156-05CF-9E9DC8A43A64}"/>
              </a:ext>
            </a:extLst>
          </p:cNvPr>
          <p:cNvCxnSpPr>
            <a:cxnSpLocks/>
          </p:cNvCxnSpPr>
          <p:nvPr/>
        </p:nvCxnSpPr>
        <p:spPr>
          <a:xfrm>
            <a:off x="5959098" y="1402597"/>
            <a:ext cx="0" cy="49521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2FA6A55-BCD0-4084-8389-A81CF9196E6C}"/>
              </a:ext>
            </a:extLst>
          </p:cNvPr>
          <p:cNvSpPr txBox="1"/>
          <p:nvPr/>
        </p:nvSpPr>
        <p:spPr>
          <a:xfrm>
            <a:off x="6008411" y="1024128"/>
            <a:ext cx="180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VIABILITY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B75F408-9C65-63F8-EC31-61AF17BD6D44}"/>
              </a:ext>
            </a:extLst>
          </p:cNvPr>
          <p:cNvSpPr/>
          <p:nvPr/>
        </p:nvSpPr>
        <p:spPr>
          <a:xfrm>
            <a:off x="6172200" y="1481328"/>
            <a:ext cx="2816352" cy="1024128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2F6FDE"/>
            </a:solidFill>
          </a:ln>
          <a:effectLst>
            <a:outerShdw blurRad="76200" dist="38100" dir="5400000" algn="t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BEA642F-F036-C643-8DF5-7C9C35B0E858}"/>
              </a:ext>
            </a:extLst>
          </p:cNvPr>
          <p:cNvSpPr/>
          <p:nvPr/>
        </p:nvSpPr>
        <p:spPr>
          <a:xfrm>
            <a:off x="9144000" y="1481328"/>
            <a:ext cx="2816352" cy="1024128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0F9D8A"/>
            </a:solidFill>
          </a:ln>
          <a:effectLst>
            <a:outerShdw blurRad="76200" dist="38100" dir="5400000" algn="t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F01DCE5-430C-A1AB-C6AA-33C19A3197E7}"/>
              </a:ext>
            </a:extLst>
          </p:cNvPr>
          <p:cNvSpPr/>
          <p:nvPr/>
        </p:nvSpPr>
        <p:spPr>
          <a:xfrm>
            <a:off x="6172200" y="2606040"/>
            <a:ext cx="2816352" cy="1024128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2E9E5B"/>
            </a:solidFill>
          </a:ln>
          <a:effectLst>
            <a:outerShdw blurRad="76200" dist="38100" dir="5400000" algn="t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021365D-4950-3A82-3D4D-23E050F1CB67}"/>
              </a:ext>
            </a:extLst>
          </p:cNvPr>
          <p:cNvSpPr/>
          <p:nvPr/>
        </p:nvSpPr>
        <p:spPr>
          <a:xfrm>
            <a:off x="9144000" y="2606040"/>
            <a:ext cx="2816352" cy="1024128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E8743B"/>
            </a:solidFill>
          </a:ln>
          <a:effectLst>
            <a:outerShdw blurRad="76200" dist="38100" dir="5400000" algn="t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7EFD19-36F9-CCEA-5902-CB4CBB469B40}"/>
              </a:ext>
            </a:extLst>
          </p:cNvPr>
          <p:cNvSpPr txBox="1"/>
          <p:nvPr/>
        </p:nvSpPr>
        <p:spPr>
          <a:xfrm>
            <a:off x="7031736" y="1481328"/>
            <a:ext cx="1920240" cy="10241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r>
              <a:rPr lang="en-IN" sz="1300" b="1" dirty="0">
                <a:solidFill>
                  <a:srgbClr val="1F55B5"/>
                </a:solidFill>
              </a:rPr>
              <a:t>Users</a:t>
            </a:r>
          </a:p>
          <a:p>
            <a:pPr>
              <a:lnSpc>
                <a:spcPct val="92000"/>
              </a:lnSpc>
            </a:pPr>
            <a:r>
              <a:rPr lang="en-IN" sz="1050" dirty="0"/>
              <a:t>Colleges, scrutiny officers, senior officials, EVC committees and competent authorities.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0DA53E-F138-CA42-A474-58FE6EE775AA}"/>
              </a:ext>
            </a:extLst>
          </p:cNvPr>
          <p:cNvSpPr txBox="1"/>
          <p:nvPr/>
        </p:nvSpPr>
        <p:spPr>
          <a:xfrm>
            <a:off x="10003536" y="1481328"/>
            <a:ext cx="1920240" cy="10241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r>
              <a:rPr lang="en-IN" sz="1300" b="1" dirty="0">
                <a:solidFill>
                  <a:srgbClr val="0B7A6B"/>
                </a:solidFill>
              </a:rPr>
              <a:t>Operational value</a:t>
            </a:r>
          </a:p>
          <a:p>
            <a:pPr>
              <a:lnSpc>
                <a:spcPct val="92000"/>
              </a:lnSpc>
            </a:pPr>
            <a:r>
              <a:rPr lang="en-IN" sz="1050" dirty="0"/>
              <a:t>Clearer pendency, fewer manual follow-ups and traceable decisions. In simulation, peak officer load 0.98 vs 1.59 for random assignment.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720E57-CE6B-B55E-84C8-18E035C2388C}"/>
              </a:ext>
            </a:extLst>
          </p:cNvPr>
          <p:cNvSpPr txBox="1"/>
          <p:nvPr/>
        </p:nvSpPr>
        <p:spPr>
          <a:xfrm>
            <a:off x="7031736" y="2606040"/>
            <a:ext cx="1920240" cy="10241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r>
              <a:rPr lang="en-IN" sz="1300" b="1" dirty="0">
                <a:solidFill>
                  <a:srgbClr val="1F7A43"/>
                </a:solidFill>
              </a:rPr>
              <a:t>Scalability</a:t>
            </a:r>
          </a:p>
          <a:p>
            <a:pPr>
              <a:lnSpc>
                <a:spcPct val="92000"/>
              </a:lnSpc>
            </a:pPr>
            <a:r>
              <a:rPr lang="en-IN" sz="1050" dirty="0"/>
              <a:t>Sized for (assumed) 15,000 applications/cycle and 50,000 alerts/day on primary + replica DB, 2 app nodes; scale by adding nodes.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DE90EF-B9D4-3755-3E91-5D963ED84FAA}"/>
              </a:ext>
            </a:extLst>
          </p:cNvPr>
          <p:cNvSpPr txBox="1"/>
          <p:nvPr/>
        </p:nvSpPr>
        <p:spPr>
          <a:xfrm flipH="1">
            <a:off x="10003536" y="2606040"/>
            <a:ext cx="1920240" cy="10241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>
              <a:buNone/>
            </a:pPr>
            <a:r>
              <a:rPr lang="en-IN" sz="1300" b="1" dirty="0">
                <a:solidFill>
                  <a:srgbClr val="B8501D"/>
                </a:solidFill>
              </a:rPr>
              <a:t>Cost approach</a:t>
            </a:r>
          </a:p>
          <a:p>
            <a:pPr>
              <a:lnSpc>
                <a:spcPct val="92000"/>
              </a:lnSpc>
              <a:buNone/>
            </a:pPr>
            <a:r>
              <a:rPr lang="en-IN" sz="1050" dirty="0"/>
              <a:t>Open-source stack, no licence fees. Hosting, upkeep and integration costs are estimated at left.</a:t>
            </a:r>
          </a:p>
        </p:txBody>
      </p:sp>
      <p:sp>
        <p:nvSpPr>
          <p:cNvPr id="900" name="Badge Graphic 45"/>
          <p:cNvSpPr/>
          <p:nvPr/>
        </p:nvSpPr>
        <p:spPr>
          <a:xfrm>
            <a:off x="6336792" y="1700784"/>
            <a:ext cx="585216" cy="585216"/>
          </a:xfrm>
          <a:prstGeom prst="ellipse">
            <a:avLst/>
          </a:prstGeom>
          <a:solidFill>
            <a:srgbClr val="2F6FDE"/>
          </a:solidFill>
          <a:ln>
            <a:noFill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0AB8DF31-D198-3ED8-EAF9-F05B898E1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837944"/>
            <a:ext cx="310896" cy="310896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35114B3-CF3B-073D-E0B5-64B3E39537D6}"/>
              </a:ext>
            </a:extLst>
          </p:cNvPr>
          <p:cNvCxnSpPr>
            <a:cxnSpLocks/>
          </p:cNvCxnSpPr>
          <p:nvPr/>
        </p:nvCxnSpPr>
        <p:spPr>
          <a:xfrm>
            <a:off x="5961888" y="3730752"/>
            <a:ext cx="6227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70BC9A2-B6F8-F8E2-5B49-F6C3F94E3727}"/>
              </a:ext>
            </a:extLst>
          </p:cNvPr>
          <p:cNvSpPr txBox="1"/>
          <p:nvPr/>
        </p:nvSpPr>
        <p:spPr>
          <a:xfrm>
            <a:off x="6135624" y="3721608"/>
            <a:ext cx="3395420" cy="36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CHALLENGES AND MITIGATION</a:t>
            </a:r>
          </a:p>
        </p:txBody>
      </p:sp>
      <p:graphicFrame>
        <p:nvGraphicFramePr>
          <p:cNvPr id="950" name="Challen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48343"/>
              </p:ext>
            </p:extLst>
          </p:nvPr>
        </p:nvGraphicFramePr>
        <p:xfrm>
          <a:off x="6172200" y="4096512"/>
          <a:ext cx="5788152" cy="2160000"/>
        </p:xfrm>
        <a:graphic>
          <a:graphicData uri="http://schemas.openxmlformats.org/drawingml/2006/table">
            <a:tbl>
              <a:tblPr firstRow="1"/>
              <a:tblGrid>
                <a:gridCol w="2149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FFFFFF"/>
                          </a:solidFill>
                        </a:rPr>
                        <a:t>CHALLENGES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F5D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FFFFFF"/>
                          </a:solidFill>
                        </a:rPr>
                        <a:t>MITIGATION STRATEGIES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F5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Changing AICTE rules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Configurable rule engine with versioned updates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Portal integration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Modular adapter layer; mock adapter for demo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Data accuracy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Validation, mandatory fields and audit trail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Missed deadline alerts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Idempotent scheduler, retries and monitoring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Unauthorized access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Role-based access, strong auth and audit logs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ML data availability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Synthetic data, unsupervised model; advisory only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61" name="Table Icon warn 1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426512"/>
            <a:ext cx="250000" cy="250000"/>
          </a:xfrm>
          <a:prstGeom prst="rect">
            <a:avLst/>
          </a:prstGeom>
        </p:spPr>
      </p:pic>
      <p:pic>
        <p:nvPicPr>
          <p:cNvPr id="962" name="Table Icon bulb 1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4426512"/>
            <a:ext cx="250000" cy="250000"/>
          </a:xfrm>
          <a:prstGeom prst="rect">
            <a:avLst/>
          </a:prstGeom>
        </p:spPr>
      </p:pic>
      <p:pic>
        <p:nvPicPr>
          <p:cNvPr id="963" name="Table Icon warn 2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736512"/>
            <a:ext cx="250000" cy="250000"/>
          </a:xfrm>
          <a:prstGeom prst="rect">
            <a:avLst/>
          </a:prstGeom>
        </p:spPr>
      </p:pic>
      <p:pic>
        <p:nvPicPr>
          <p:cNvPr id="964" name="Table Icon bulb 2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4736512"/>
            <a:ext cx="250000" cy="250000"/>
          </a:xfrm>
          <a:prstGeom prst="rect">
            <a:avLst/>
          </a:prstGeom>
        </p:spPr>
      </p:pic>
      <p:pic>
        <p:nvPicPr>
          <p:cNvPr id="965" name="Table Icon warn 3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046512"/>
            <a:ext cx="250000" cy="250000"/>
          </a:xfrm>
          <a:prstGeom prst="rect">
            <a:avLst/>
          </a:prstGeom>
        </p:spPr>
      </p:pic>
      <p:pic>
        <p:nvPicPr>
          <p:cNvPr id="966" name="Table Icon bulb 3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5046512"/>
            <a:ext cx="250000" cy="250000"/>
          </a:xfrm>
          <a:prstGeom prst="rect">
            <a:avLst/>
          </a:prstGeom>
        </p:spPr>
      </p:pic>
      <p:pic>
        <p:nvPicPr>
          <p:cNvPr id="967" name="Table Icon warn 4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356512"/>
            <a:ext cx="250000" cy="250000"/>
          </a:xfrm>
          <a:prstGeom prst="rect">
            <a:avLst/>
          </a:prstGeom>
        </p:spPr>
      </p:pic>
      <p:pic>
        <p:nvPicPr>
          <p:cNvPr id="968" name="Table Icon bulb 4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5356512"/>
            <a:ext cx="250000" cy="250000"/>
          </a:xfrm>
          <a:prstGeom prst="rect">
            <a:avLst/>
          </a:prstGeom>
        </p:spPr>
      </p:pic>
      <p:pic>
        <p:nvPicPr>
          <p:cNvPr id="969" name="Table Icon warn 5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666512"/>
            <a:ext cx="250000" cy="250000"/>
          </a:xfrm>
          <a:prstGeom prst="rect">
            <a:avLst/>
          </a:prstGeom>
        </p:spPr>
      </p:pic>
      <p:pic>
        <p:nvPicPr>
          <p:cNvPr id="4201" name="Table Icon warn 6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976512"/>
            <a:ext cx="250000" cy="250000"/>
          </a:xfrm>
          <a:prstGeom prst="rect">
            <a:avLst/>
          </a:prstGeom>
        </p:spPr>
      </p:pic>
      <p:pic>
        <p:nvPicPr>
          <p:cNvPr id="970" name="Table Icon bulb 5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5666512"/>
            <a:ext cx="250000" cy="250000"/>
          </a:xfrm>
          <a:prstGeom prst="rect">
            <a:avLst/>
          </a:prstGeom>
        </p:spPr>
      </p:pic>
      <p:pic>
        <p:nvPicPr>
          <p:cNvPr id="4202" name="Table Icon bulb 6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5976512"/>
            <a:ext cx="250000" cy="25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437456-10B5-5898-81C1-D6FC79682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496" y="2774369"/>
            <a:ext cx="749808" cy="6874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37E582-79BA-8D35-D449-592BEA532A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791402"/>
            <a:ext cx="749808" cy="6534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720552-B205-27AA-0BED-EB7E358E49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6296" y="1701098"/>
            <a:ext cx="749808" cy="584589"/>
          </a:xfrm>
          <a:prstGeom prst="rect">
            <a:avLst/>
          </a:prstGeom>
        </p:spPr>
      </p:pic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F02D219F-4FBE-248A-D44D-89DE6691B5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252246"/>
            <a:ext cx="17663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4102" name="Roadmap Card 1"/>
          <p:cNvSpPr/>
          <p:nvPr/>
        </p:nvSpPr>
        <p:spPr>
          <a:xfrm>
            <a:off x="2377440" y="1591056"/>
            <a:ext cx="3429000" cy="758973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875">
            <a:solidFill>
              <a:srgbClr val="2F5DAA"/>
            </a:solidFill>
          </a:ln>
        </p:spPr>
        <p:txBody>
          <a:bodyPr wrap="square" lIns="100000" tIns="36000" rIns="90000" bIns="36000" rtlCol="0" anchor="ctr">
            <a:noAutofit/>
          </a:bodyPr>
          <a:lstStyle/>
          <a:p>
            <a:pPr algn="l"/>
            <a:r>
              <a:rPr lang="en-US" sz="1400" b="0" dirty="0">
                <a:solidFill>
                  <a:srgbClr val="262626"/>
                </a:solidFill>
              </a:rPr>
              <a:t>Hardened prototype: stage routing, deadline engine, in-app Action Center, SimClock demo, mock AICTE adapter.</a:t>
            </a:r>
          </a:p>
        </p:txBody>
      </p:sp>
      <p:sp>
        <p:nvSpPr>
          <p:cNvPr id="4105" name="Roadmap Card 2"/>
          <p:cNvSpPr/>
          <p:nvPr/>
        </p:nvSpPr>
        <p:spPr>
          <a:xfrm>
            <a:off x="2377440" y="2496333"/>
            <a:ext cx="3429000" cy="758973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2E9E5B"/>
            </a:solidFill>
          </a:ln>
        </p:spPr>
        <p:txBody>
          <a:bodyPr wrap="square" lIns="100000" tIns="36000" rIns="90000" bIns="36000" rtlCol="0" anchor="ctr">
            <a:noAutofit/>
          </a:bodyPr>
          <a:lstStyle/>
          <a:p>
            <a:pPr algn="l"/>
            <a:r>
              <a:rPr lang="en-US" sz="1400" b="0" dirty="0">
                <a:solidFill>
                  <a:srgbClr val="262626"/>
                </a:solidFill>
              </a:rPr>
              <a:t>One AICTE regional office on real cases via CSV / read-only feed; email + SMS alerts; baseline for impact metrics.</a:t>
            </a:r>
          </a:p>
        </p:txBody>
      </p:sp>
      <p:sp>
        <p:nvSpPr>
          <p:cNvPr id="4108" name="Roadmap Card 3"/>
          <p:cNvSpPr/>
          <p:nvPr/>
        </p:nvSpPr>
        <p:spPr>
          <a:xfrm>
            <a:off x="2377440" y="3401610"/>
            <a:ext cx="3429000" cy="758973"/>
          </a:xfrm>
          <a:prstGeom prst="roundRect">
            <a:avLst>
              <a:gd name="adj" fmla="val 10000"/>
            </a:avLst>
          </a:prstGeom>
          <a:solidFill>
            <a:srgbClr val="FDF0E6"/>
          </a:solidFill>
          <a:ln w="15875">
            <a:solidFill>
              <a:srgbClr val="E8742A"/>
            </a:solidFill>
          </a:ln>
        </p:spPr>
        <p:txBody>
          <a:bodyPr wrap="square" lIns="100000" tIns="36000" rIns="90000" bIns="36000" rtlCol="0" anchor="ctr">
            <a:noAutofit/>
          </a:bodyPr>
          <a:lstStyle/>
          <a:p>
            <a:pPr algn="l"/>
            <a:r>
              <a:rPr lang="en-US" sz="1400" b="0" dirty="0">
                <a:solidFill>
                  <a:srgbClr val="262626"/>
                </a:solidFill>
              </a:rPr>
              <a:t>All regional offices on NIC/MeitY cloud; live API integration if offered; high availability, DR and officer training.</a:t>
            </a:r>
          </a:p>
        </p:txBody>
      </p:sp>
      <p:sp>
        <p:nvSpPr>
          <p:cNvPr id="4109" name="Cost Estimate Box"/>
          <p:cNvSpPr/>
          <p:nvPr/>
        </p:nvSpPr>
        <p:spPr>
          <a:xfrm>
            <a:off x="228600" y="4297680"/>
            <a:ext cx="55778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FCBE0"/>
            </a:solidFill>
          </a:ln>
        </p:spPr>
        <p:txBody>
          <a:bodyPr wrap="square" lIns="100000" tIns="30000" rIns="90000" bIns="30000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300" b="1" dirty="0">
                <a:solidFill>
                  <a:srgbClr val="2F5DAA"/>
                </a:solidFill>
              </a:rPr>
              <a:t>INDICATIVE COST (to be validated with NIC/AICTE)</a:t>
            </a:r>
          </a:p>
          <a:p>
            <a:pPr algn="l"/>
            <a:r>
              <a:rPr lang="en-US" sz="1300" b="1" dirty="0">
                <a:solidFill>
                  <a:srgbClr val="262626"/>
                </a:solidFill>
              </a:rPr>
              <a:t>Hosting: </a:t>
            </a:r>
            <a:r>
              <a:rPr lang="en-US" sz="1300" b="0" dirty="0">
                <a:solidFill>
                  <a:srgbClr val="262626"/>
                </a:solidFill>
              </a:rPr>
              <a:t>₹3–6 lakh/yr pilot; ₹12–20 lakh/yr national (HA + backups)</a:t>
            </a:r>
          </a:p>
          <a:p>
            <a:pPr algn="l"/>
            <a:r>
              <a:rPr lang="en-US" sz="1300" b="1" dirty="0">
                <a:solidFill>
                  <a:srgbClr val="262626"/>
                </a:solidFill>
              </a:rPr>
              <a:t>Maintenance: </a:t>
            </a:r>
            <a:r>
              <a:rPr lang="en-US" sz="1300" b="0" dirty="0">
                <a:solidFill>
                  <a:srgbClr val="262626"/>
                </a:solidFill>
              </a:rPr>
              <a:t>₹10–18 lakh/yr (small support team, patches)</a:t>
            </a:r>
          </a:p>
          <a:p>
            <a:pPr algn="l"/>
            <a:r>
              <a:rPr lang="en-US" sz="1300" b="1" dirty="0">
                <a:solidFill>
                  <a:srgbClr val="262626"/>
                </a:solidFill>
              </a:rPr>
              <a:t>Integration: </a:t>
            </a:r>
            <a:r>
              <a:rPr lang="en-US" sz="1300" b="0" dirty="0">
                <a:solidFill>
                  <a:srgbClr val="262626"/>
                </a:solidFill>
              </a:rPr>
              <a:t>₹5–10 lakh one-time (AICTE adapter, SMS/email gateway)</a:t>
            </a:r>
          </a:p>
        </p:txBody>
      </p:sp>
      <p:sp>
        <p:nvSpPr>
          <p:cNvPr id="4110" name="Security Residency Box"/>
          <p:cNvSpPr/>
          <p:nvPr/>
        </p:nvSpPr>
        <p:spPr>
          <a:xfrm>
            <a:off x="228600" y="5303520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FCBE0"/>
            </a:solidFill>
          </a:ln>
        </p:spPr>
        <p:txBody>
          <a:bodyPr wrap="square" lIns="100000" tIns="30000" rIns="90000" bIns="30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F5DAA"/>
                </a:solidFill>
              </a:rPr>
              <a:t>SECURITY AND DATA RESIDENCY: </a:t>
            </a:r>
            <a:r>
              <a:rPr lang="en-US" sz="1300" b="0" dirty="0">
                <a:solidFill>
                  <a:srgbClr val="262626"/>
                </a:solidFill>
              </a:rPr>
              <a:t>self-hosted on Indian government cloud (NIC / MeitY-empanelled), data stays in India; encryption at rest (AES-256) and in transit (TLS 1.2+); role-based access and audit logs. Before real data: officer 2FA, AICTE SSO, row-level security, DPDP Act review and a security audit.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CE708B5-562D-7C76-2931-F6CF1BAC8A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5983"/>
          <a:stretch>
            <a:fillRect/>
          </a:stretch>
        </p:blipFill>
        <p:spPr>
          <a:xfrm>
            <a:off x="228600" y="1517904"/>
            <a:ext cx="2011680" cy="271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310639" y="-47625"/>
            <a:ext cx="9022075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@GeoLogics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7410" name="Center divider"/>
          <p:cNvCxnSpPr/>
          <p:nvPr/>
        </p:nvCxnSpPr>
        <p:spPr>
          <a:xfrm>
            <a:off x="6096305" y="1325880"/>
            <a:ext cx="0" cy="4754880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11" name="Split shield (Impacts | Benefits)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065" y="2832811"/>
            <a:ext cx="1554480" cy="1741018"/>
          </a:xfrm>
          <a:prstGeom prst="rect">
            <a:avLst/>
          </a:prstGeom>
        </p:spPr>
      </p:pic>
      <p:sp>
        <p:nvSpPr>
          <p:cNvPr id="17412" name="Label IMPACTS"/>
          <p:cNvSpPr txBox="1"/>
          <p:nvPr/>
        </p:nvSpPr>
        <p:spPr>
          <a:xfrm>
            <a:off x="4864608" y="1291131"/>
            <a:ext cx="118872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 dirty="0">
                <a:solidFill>
                  <a:srgbClr val="D9661A"/>
                </a:solidFill>
                <a:latin typeface="Arial"/>
              </a:rPr>
              <a:t>IMPACT</a:t>
            </a:r>
          </a:p>
        </p:txBody>
      </p:sp>
      <p:sp>
        <p:nvSpPr>
          <p:cNvPr id="17413" name="Label BENEFITS"/>
          <p:cNvSpPr txBox="1"/>
          <p:nvPr/>
        </p:nvSpPr>
        <p:spPr>
          <a:xfrm>
            <a:off x="6144768" y="1291131"/>
            <a:ext cx="118872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dirty="0">
                <a:solidFill>
                  <a:srgbClr val="2E9E5B"/>
                </a:solidFill>
                <a:latin typeface="Arial"/>
              </a:rPr>
              <a:t>BENEFITS</a:t>
            </a:r>
          </a:p>
        </p:txBody>
      </p:sp>
      <p:sp>
        <p:nvSpPr>
          <p:cNvPr id="17414" name="Impact box 1"/>
          <p:cNvSpPr/>
          <p:nvPr/>
        </p:nvSpPr>
        <p:spPr>
          <a:xfrm>
            <a:off x="2250000" y="1233080"/>
            <a:ext cx="264204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0" rIns="100000" bIns="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rgbClr val="B8520F"/>
                </a:solidFill>
                <a:latin typeface="Arial"/>
              </a:rPr>
              <a:t>Colleges</a:t>
            </a:r>
          </a:p>
          <a:p>
            <a:pPr algn="l"/>
            <a:r>
              <a:rPr lang="en-US" sz="1300" b="0" dirty="0">
                <a:solidFill>
                  <a:srgbClr val="262626"/>
                </a:solidFill>
                <a:latin typeface="Arial"/>
              </a:rPr>
              <a:t>See status, deficiencies and deadlines in one place and submit evidence online, in English or Hindi.</a:t>
            </a:r>
          </a:p>
        </p:txBody>
      </p:sp>
      <p:sp>
        <p:nvSpPr>
          <p:cNvPr id="17415" name="Impact badge 1"/>
          <p:cNvSpPr/>
          <p:nvPr/>
        </p:nvSpPr>
        <p:spPr>
          <a:xfrm>
            <a:off x="2140272" y="110506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6" name="Arrow in 1"/>
          <p:cNvSpPr/>
          <p:nvPr/>
        </p:nvSpPr>
        <p:spPr>
          <a:xfrm>
            <a:off x="4892040" y="1783080"/>
            <a:ext cx="868680" cy="1179576"/>
          </a:xfrm>
          <a:custGeom>
            <a:avLst/>
            <a:gdLst/>
            <a:ahLst/>
            <a:cxnLst/>
            <a:rect l="0" t="0" r="r" b="b"/>
            <a:pathLst>
              <a:path w="868680" h="1179576" fill="none">
                <a:moveTo>
                  <a:pt x="0" y="0"/>
                </a:moveTo>
                <a:cubicBezTo>
                  <a:pt x="434340" y="0"/>
                  <a:pt x="868680" y="589788"/>
                  <a:pt x="868680" y="1179576"/>
                </a:cubicBezTo>
              </a:path>
            </a:pathLst>
          </a:custGeom>
          <a:noFill/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417" name="Benefit box 1"/>
          <p:cNvSpPr/>
          <p:nvPr/>
        </p:nvSpPr>
        <p:spPr>
          <a:xfrm>
            <a:off x="7296912" y="1254827"/>
            <a:ext cx="2653088" cy="1100000"/>
          </a:xfrm>
          <a:prstGeom prst="roundRect">
            <a:avLst>
              <a:gd name="adj" fmla="val 4850"/>
            </a:avLst>
          </a:prstGeom>
          <a:noFill/>
          <a:ln w="285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0" rIns="100000" bIns="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Arial"/>
              </a:rPr>
              <a:t>Social</a:t>
            </a:r>
          </a:p>
          <a:p>
            <a:pPr algn="l"/>
            <a:r>
              <a:rPr lang="en-US" sz="1200" b="0" dirty="0">
                <a:solidFill>
                  <a:srgbClr val="262626"/>
                </a:solidFill>
                <a:latin typeface="Arial"/>
              </a:rPr>
              <a:t>Timely approvals before the academic year; clearer status and deadlines for colleges. Paperless: fewer couriered files.</a:t>
            </a:r>
          </a:p>
        </p:txBody>
      </p:sp>
      <p:sp>
        <p:nvSpPr>
          <p:cNvPr id="17418" name="Benefit badge 1"/>
          <p:cNvSpPr/>
          <p:nvPr/>
        </p:nvSpPr>
        <p:spPr>
          <a:xfrm>
            <a:off x="9677377" y="1126811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9" name="Arrow out 1"/>
          <p:cNvSpPr/>
          <p:nvPr/>
        </p:nvSpPr>
        <p:spPr>
          <a:xfrm>
            <a:off x="6428232" y="1783080"/>
            <a:ext cx="868680" cy="1179576"/>
          </a:xfrm>
          <a:custGeom>
            <a:avLst/>
            <a:gdLst/>
            <a:ahLst/>
            <a:cxnLst/>
            <a:rect l="0" t="0" r="r" b="b"/>
            <a:pathLst>
              <a:path w="868680" h="1179576" fill="none">
                <a:moveTo>
                  <a:pt x="0" y="1179576"/>
                </a:moveTo>
                <a:cubicBezTo>
                  <a:pt x="0" y="589788"/>
                  <a:pt x="434340" y="0"/>
                  <a:pt x="868680" y="0"/>
                </a:cubicBezTo>
              </a:path>
            </a:pathLst>
          </a:custGeom>
          <a:noFill/>
          <a:ln w="3175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420" name="Impact box 2"/>
          <p:cNvSpPr/>
          <p:nvPr/>
        </p:nvSpPr>
        <p:spPr>
          <a:xfrm>
            <a:off x="365760" y="2513240"/>
            <a:ext cx="388620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rgbClr val="B8520F"/>
                </a:solidFill>
                <a:latin typeface="Arial"/>
              </a:rPr>
              <a:t>Officers</a:t>
            </a:r>
          </a:p>
          <a:p>
            <a:pPr algn="l"/>
            <a:r>
              <a:rPr lang="en-US" sz="1300" b="0" dirty="0">
                <a:solidFill>
                  <a:srgbClr val="262626"/>
                </a:solidFill>
                <a:latin typeface="Arial"/>
              </a:rPr>
              <a:t>Start from a prioritised queue with visible ageing, standard letters and one workspace.</a:t>
            </a:r>
          </a:p>
        </p:txBody>
      </p:sp>
      <p:sp>
        <p:nvSpPr>
          <p:cNvPr id="17421" name="Impact badge 2"/>
          <p:cNvSpPr/>
          <p:nvPr/>
        </p:nvSpPr>
        <p:spPr>
          <a:xfrm>
            <a:off x="256032" y="238522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7422" name="Arrow in 2"/>
          <p:cNvCxnSpPr/>
          <p:nvPr/>
        </p:nvCxnSpPr>
        <p:spPr>
          <a:xfrm>
            <a:off x="4251960" y="3063240"/>
            <a:ext cx="1354684" cy="605260"/>
          </a:xfrm>
          <a:prstGeom prst="curvedConnector3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Benefit box 2"/>
          <p:cNvSpPr/>
          <p:nvPr/>
        </p:nvSpPr>
        <p:spPr>
          <a:xfrm>
            <a:off x="7936992" y="2513240"/>
            <a:ext cx="388620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Arial"/>
              </a:rPr>
              <a:t>Economic</a:t>
            </a:r>
          </a:p>
          <a:p>
            <a:pPr algn="l"/>
            <a:r>
              <a:rPr lang="en-US" sz="1100" b="0" dirty="0">
                <a:solidFill>
                  <a:srgbClr val="262626"/>
                </a:solidFill>
                <a:latin typeface="Arial"/>
              </a:rPr>
              <a:t>Target: manual follow-up effort cut ~50% (about 3 officer-hours saved per case, ~45,000 hours per cycle). Assumes 15,000 applications/cycle and ~6 hours of manual follow-up per case today. (demo load tested)</a:t>
            </a:r>
          </a:p>
        </p:txBody>
      </p:sp>
      <p:sp>
        <p:nvSpPr>
          <p:cNvPr id="17424" name="Benefit badge 2"/>
          <p:cNvSpPr/>
          <p:nvPr/>
        </p:nvSpPr>
        <p:spPr>
          <a:xfrm>
            <a:off x="11548872" y="2385224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7425" name="Arrow out 2"/>
          <p:cNvCxnSpPr/>
          <p:nvPr/>
        </p:nvCxnSpPr>
        <p:spPr>
          <a:xfrm flipV="1">
            <a:off x="6603065" y="3063240"/>
            <a:ext cx="1333927" cy="587849"/>
          </a:xfrm>
          <a:prstGeom prst="curvedConnector3">
            <a:avLst/>
          </a:prstGeom>
          <a:ln w="3175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Impact box 3"/>
          <p:cNvSpPr/>
          <p:nvPr/>
        </p:nvSpPr>
        <p:spPr>
          <a:xfrm>
            <a:off x="365760" y="3793400"/>
            <a:ext cx="388620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rgbClr val="B8520F"/>
                </a:solidFill>
                <a:latin typeface="Arial"/>
              </a:rPr>
              <a:t>Committees (EVC, SAC, SHC)</a:t>
            </a:r>
          </a:p>
          <a:p>
            <a:pPr algn="l"/>
            <a:r>
              <a:rPr lang="en-US" sz="1300" b="0" dirty="0">
                <a:solidFill>
                  <a:srgbClr val="262626"/>
                </a:solidFill>
                <a:latin typeface="Arial"/>
              </a:rPr>
              <a:t>Assigned cases, checklists, schedules and recommendation forms in one workspace.</a:t>
            </a:r>
          </a:p>
        </p:txBody>
      </p:sp>
      <p:sp>
        <p:nvSpPr>
          <p:cNvPr id="17427" name="Impact badge 3"/>
          <p:cNvSpPr/>
          <p:nvPr/>
        </p:nvSpPr>
        <p:spPr>
          <a:xfrm>
            <a:off x="256032" y="366538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428" name="Arrow in 3"/>
          <p:cNvCxnSpPr/>
          <p:nvPr/>
        </p:nvCxnSpPr>
        <p:spPr>
          <a:xfrm flipV="1">
            <a:off x="4251960" y="3999293"/>
            <a:ext cx="1378001" cy="344107"/>
          </a:xfrm>
          <a:prstGeom prst="curvedConnector3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Benefit box 3"/>
          <p:cNvSpPr/>
          <p:nvPr/>
        </p:nvSpPr>
        <p:spPr>
          <a:xfrm>
            <a:off x="7936992" y="3793400"/>
            <a:ext cx="388620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Arial"/>
              </a:rPr>
              <a:t>Governance</a:t>
            </a:r>
          </a:p>
          <a:p>
            <a:pPr algn="l"/>
            <a:r>
              <a:rPr lang="en-US" sz="1100" b="0" dirty="0">
                <a:solidFill>
                  <a:srgbClr val="262626"/>
                </a:solidFill>
                <a:latin typeface="Arial"/>
              </a:rPr>
              <a:t>Target: median pendency 60 → 40 days (−33%) and 100% of overdue cases escalated within 3 days. Assumes a 60-day baseline, to be confirmed in the pilot. Every action is audit-logged.</a:t>
            </a:r>
          </a:p>
        </p:txBody>
      </p:sp>
      <p:sp>
        <p:nvSpPr>
          <p:cNvPr id="17430" name="Benefit badge 3"/>
          <p:cNvSpPr/>
          <p:nvPr/>
        </p:nvSpPr>
        <p:spPr>
          <a:xfrm>
            <a:off x="11548872" y="3665384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431" name="Arrow out 3"/>
          <p:cNvCxnSpPr/>
          <p:nvPr/>
        </p:nvCxnSpPr>
        <p:spPr>
          <a:xfrm>
            <a:off x="6556431" y="4016703"/>
            <a:ext cx="1380561" cy="326697"/>
          </a:xfrm>
          <a:prstGeom prst="curvedConnector3">
            <a:avLst/>
          </a:prstGeom>
          <a:ln w="3175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Impact box 4"/>
          <p:cNvSpPr/>
          <p:nvPr/>
        </p:nvSpPr>
        <p:spPr>
          <a:xfrm>
            <a:off x="2468880" y="5098560"/>
            <a:ext cx="2423160" cy="105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rgbClr val="B8520F"/>
                </a:solidFill>
                <a:latin typeface="Arial"/>
              </a:rPr>
              <a:t>Authority and admin</a:t>
            </a:r>
          </a:p>
          <a:p>
            <a:pPr algn="l"/>
            <a:r>
              <a:rPr lang="en-US" sz="1300" b="0" dirty="0">
                <a:solidFill>
                  <a:srgbClr val="262626"/>
                </a:solidFill>
                <a:latin typeface="Arial"/>
              </a:rPr>
              <a:t>Pendency, workload and escalation views; rules edited without code.</a:t>
            </a:r>
          </a:p>
        </p:txBody>
      </p:sp>
      <p:sp>
        <p:nvSpPr>
          <p:cNvPr id="17433" name="Impact badge 4"/>
          <p:cNvSpPr/>
          <p:nvPr/>
        </p:nvSpPr>
        <p:spPr>
          <a:xfrm>
            <a:off x="2359152" y="497054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4" name="Arrow in 4"/>
          <p:cNvSpPr/>
          <p:nvPr/>
        </p:nvSpPr>
        <p:spPr>
          <a:xfrm>
            <a:off x="4892040" y="4347058"/>
            <a:ext cx="940003" cy="1276502"/>
          </a:xfrm>
          <a:custGeom>
            <a:avLst/>
            <a:gdLst/>
            <a:ahLst/>
            <a:cxnLst/>
            <a:rect l="0" t="0" r="r" b="b"/>
            <a:pathLst>
              <a:path w="940003" h="1276502" fill="none">
                <a:moveTo>
                  <a:pt x="0" y="1276502"/>
                </a:moveTo>
                <a:cubicBezTo>
                  <a:pt x="470002" y="1276502"/>
                  <a:pt x="940003" y="638251"/>
                  <a:pt x="940003" y="0"/>
                </a:cubicBezTo>
              </a:path>
            </a:pathLst>
          </a:custGeom>
          <a:noFill/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435" name="Benefit box 4"/>
          <p:cNvSpPr/>
          <p:nvPr/>
        </p:nvSpPr>
        <p:spPr>
          <a:xfrm>
            <a:off x="7333488" y="5098560"/>
            <a:ext cx="2780000" cy="105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Arial"/>
              </a:rPr>
              <a:t>Measurement</a:t>
            </a:r>
          </a:p>
          <a:p>
            <a:pPr algn="l"/>
            <a:r>
              <a:rPr lang="en-US" sz="1050" b="0" dirty="0">
                <a:solidFill>
                  <a:srgbClr val="262626"/>
                </a:solidFill>
                <a:latin typeface="Arial"/>
              </a:rPr>
              <a:t>Owner: AICTE Authority, quarterly, from Action Center reports vs pilot baseline. Criteria: pendency days, follow-ups per case, overdue cases escalated.</a:t>
            </a:r>
          </a:p>
        </p:txBody>
      </p:sp>
      <p:sp>
        <p:nvSpPr>
          <p:cNvPr id="17436" name="Benefit badge 4"/>
          <p:cNvSpPr/>
          <p:nvPr/>
        </p:nvSpPr>
        <p:spPr>
          <a:xfrm>
            <a:off x="9445752" y="4970544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7" name="Arrow out 4"/>
          <p:cNvSpPr/>
          <p:nvPr/>
        </p:nvSpPr>
        <p:spPr>
          <a:xfrm>
            <a:off x="6376111" y="4347058"/>
            <a:ext cx="920801" cy="1276502"/>
          </a:xfrm>
          <a:custGeom>
            <a:avLst/>
            <a:gdLst/>
            <a:ahLst/>
            <a:cxnLst/>
            <a:rect l="0" t="0" r="r" b="b"/>
            <a:pathLst>
              <a:path w="920801" h="1276502" fill="none">
                <a:moveTo>
                  <a:pt x="0" y="0"/>
                </a:moveTo>
                <a:cubicBezTo>
                  <a:pt x="0" y="638251"/>
                  <a:pt x="460400" y="1276502"/>
                  <a:pt x="920801" y="1276502"/>
                </a:cubicBezTo>
              </a:path>
            </a:pathLst>
          </a:custGeom>
          <a:noFill/>
          <a:ln w="3175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E96BE0-1037-1E2B-06F8-4E2D8DF90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75" y="4928616"/>
            <a:ext cx="2079314" cy="10990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EEA147-CBF4-9509-D947-6D0441145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3361" y="1007112"/>
            <a:ext cx="1425511" cy="14255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A6F575-ACAE-F7CC-1EA0-A41D7E0A8C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0000" y="5000000"/>
            <a:ext cx="1450000" cy="130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1771A9-E0B4-E250-D27B-7A698C83E6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00" y="1149500"/>
            <a:ext cx="1850000" cy="128100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0C3F14D-EC59-2128-8FBB-1D2F3171FE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252246"/>
            <a:ext cx="17663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7438" name="Load test box" descr="Demo load test results"/>
          <p:cNvSpPr/>
          <p:nvPr/>
        </p:nvSpPr>
        <p:spPr>
          <a:xfrm>
            <a:off x="4937760" y="5705856"/>
            <a:ext cx="2350008" cy="585216"/>
          </a:xfrm>
          <a:prstGeom prst="roundRect">
            <a:avLst>
              <a:gd name="adj" fmla="val 14000"/>
            </a:avLst>
          </a:prstGeom>
          <a:solidFill>
            <a:srgbClr val="1E7B45"/>
          </a:solidFill>
          <a:ln w="12700">
            <a:solidFill>
              <a:srgbClr val="14592F"/>
            </a:solidFill>
          </a:ln>
          <a:effectLst>
            <a:outerShdw blurRad="50800" dist="25400" dir="5400000" algn="t" rotWithShape="0">
              <a:srgbClr val="000000">
                <a:alpha val="35000"/>
              </a:srgbClr>
            </a:outerShdw>
          </a:effectLst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lang="en-US" sz="1150" b="1" spc="100" dirty="0">
                <a:solidFill>
                  <a:srgbClr val="FFE082"/>
                </a:solidFill>
                <a:latin typeface="Arial"/>
                <a:cs typeface="Arial"/>
              </a:rPr>
              <a:t>LOAD TESTED</a:t>
            </a:r>
          </a:p>
          <a:p>
            <a:pPr algn="ctr"/>
            <a:r>
              <a:rPr lang="en-US" sz="850" b="1" dirty="0">
                <a:solidFill>
                  <a:srgbClr val="FFFFFF"/>
                </a:solidFill>
                <a:latin typeface="Arial"/>
                <a:cs typeface="Arial"/>
              </a:rPr>
              <a:t>15,000 applications · 0 errors</a:t>
            </a:r>
          </a:p>
          <a:p>
            <a:pPr algn="ctr"/>
            <a:r>
              <a:rPr lang="en-US" sz="850" b="1" dirty="0">
                <a:solidFill>
                  <a:srgbClr val="FFFFFF"/>
                </a:solidFill>
                <a:latin typeface="Arial"/>
                <a:cs typeface="Arial"/>
              </a:rPr>
              <a:t>0 duplicate alerts · median 0.3–3 s</a:t>
            </a:r>
          </a:p>
        </p:txBody>
      </p:sp>
    </p:spTree>
    <p:extLst>
      <p:ext uri="{BB962C8B-B14F-4D97-AF65-F5344CB8AC3E}">
        <p14:creationId xmlns:p14="http://schemas.microsoft.com/office/powerpoint/2010/main" val="4181684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0" y="241300"/>
            <a:ext cx="1161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  <a:endParaRPr lang="en-US" sz="3000" u="sng" dirty="0"/>
          </a:p>
        </p:txBody>
      </p:sp>
      <p:sp>
        <p:nvSpPr>
          <p:cNvPr id="8" name="Block Highlight 1"/>
          <p:cNvSpPr/>
          <p:nvPr/>
        </p:nvSpPr>
        <p:spPr>
          <a:xfrm>
            <a:off x="411480" y="1380744"/>
            <a:ext cx="4754880" cy="0"/>
          </a:xfrm>
          <a:prstGeom prst="line">
            <a:avLst/>
          </a:prstGeom>
          <a:noFill/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5" name="Block Highlight 2"/>
          <p:cNvSpPr/>
          <p:nvPr/>
        </p:nvSpPr>
        <p:spPr>
          <a:xfrm>
            <a:off x="411480" y="2112264"/>
            <a:ext cx="4754880" cy="0"/>
          </a:xfrm>
          <a:prstGeom prst="line">
            <a:avLst/>
          </a:prstGeom>
          <a:noFill/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2" name="Block Highlight 3"/>
          <p:cNvSpPr/>
          <p:nvPr/>
        </p:nvSpPr>
        <p:spPr>
          <a:xfrm>
            <a:off x="420814" y="2797683"/>
            <a:ext cx="4754880" cy="0"/>
          </a:xfrm>
          <a:prstGeom prst="line">
            <a:avLst/>
          </a:prstGeom>
          <a:noFill/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9" name="Block Highlight 4"/>
          <p:cNvSpPr/>
          <p:nvPr/>
        </p:nvSpPr>
        <p:spPr>
          <a:xfrm>
            <a:off x="411480" y="3575304"/>
            <a:ext cx="4754880" cy="0"/>
          </a:xfrm>
          <a:prstGeom prst="line">
            <a:avLst/>
          </a:prstGeom>
          <a:noFill/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33" name="Table Heading"/>
          <p:cNvSpPr txBox="1"/>
          <p:nvPr/>
        </p:nvSpPr>
        <p:spPr>
          <a:xfrm>
            <a:off x="5715000" y="13258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BENCHMARKING: VS EXISTING AICTE PORTAL</a:t>
            </a:r>
            <a:endParaRPr lang="en-US" sz="1500" dirty="0"/>
          </a:p>
        </p:txBody>
      </p:sp>
      <p:graphicFrame>
        <p:nvGraphicFramePr>
          <p:cNvPr id="3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1174"/>
              </p:ext>
            </p:extLst>
          </p:nvPr>
        </p:nvGraphicFramePr>
        <p:xfrm>
          <a:off x="5715000" y="1664208"/>
          <a:ext cx="6126480" cy="234086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Area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AICTE Portal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Proposed Solution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D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routing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filing; email/CSS follow-ups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Configurable stage-based routing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Deadline monitoring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per-case SLA clock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Per-case SLA clock, reminders, escalation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Overdue cases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review of reports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Center with owner and next 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Post-approval compliance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Tracked outside the portal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Undertaking and document-expiry tracking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tamper-evident trail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Hash-chained, timestamped audit trail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approval decision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Authorised human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Authorised human — retained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Reference Box"/>
          <p:cNvSpPr/>
          <p:nvPr/>
        </p:nvSpPr>
        <p:spPr>
          <a:xfrm>
            <a:off x="301752" y="4023360"/>
            <a:ext cx="5120640" cy="222199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36" name="Reference Icon" descr="Boo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4133088"/>
            <a:ext cx="274320" cy="274320"/>
          </a:xfrm>
          <a:prstGeom prst="rect">
            <a:avLst/>
          </a:prstGeom>
        </p:spPr>
      </p:pic>
      <p:sp>
        <p:nvSpPr>
          <p:cNvPr id="37" name="Reference Heading"/>
          <p:cNvSpPr txBox="1"/>
          <p:nvPr/>
        </p:nvSpPr>
        <p:spPr>
          <a:xfrm>
            <a:off x="2148840" y="4114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38" name="Reference List"/>
          <p:cNvSpPr txBox="1"/>
          <p:nvPr/>
        </p:nvSpPr>
        <p:spPr>
          <a:xfrm>
            <a:off x="457200" y="45262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AICTE, Approval Process Handbook 2024–25 to 2026–27.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PIB, Govt. of India, AICTE releases Approval Process Handbook (6 Dec 2023).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AICTE, Public Notice for Approval Process 2026–27, No. AICTE/Regulation Bureau/AP/2026-27 (26 Nov 2025).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AICTE, Corrigendum to the Approval Process 2026–27 (2 Dec 2025).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MeitY, Guidelines for Indian Government Websites and Apps (GIGW 3.0), 2023.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Govt. of India, Digital Personal Data Protection Act, 2023 (No. 22 of 2023).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W3C, Web Content Accessibility Guidelines (WCAG) 2.2, 2023.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Liu, Ting and Zhou, Isolation Forest, IEEE ICDM 2008.</a:t>
            </a:r>
            <a:endParaRPr lang="en-US" sz="1000" dirty="0"/>
          </a:p>
        </p:txBody>
      </p:sp>
      <p:sp>
        <p:nvSpPr>
          <p:cNvPr id="39" name="Links Header Box"/>
          <p:cNvSpPr/>
          <p:nvPr/>
        </p:nvSpPr>
        <p:spPr>
          <a:xfrm>
            <a:off x="5715000" y="4114800"/>
            <a:ext cx="6126480" cy="41148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40" name="Links Icon" descr="Lin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4187952"/>
            <a:ext cx="256032" cy="256032"/>
          </a:xfrm>
          <a:prstGeom prst="rect">
            <a:avLst/>
          </a:prstGeom>
        </p:spPr>
      </p:pic>
      <p:sp>
        <p:nvSpPr>
          <p:cNvPr id="41" name="Links Heading"/>
          <p:cNvSpPr txBox="1"/>
          <p:nvPr/>
        </p:nvSpPr>
        <p:spPr>
          <a:xfrm>
            <a:off x="8522208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1500" dirty="0"/>
          </a:p>
        </p:txBody>
      </p:sp>
      <p:sp>
        <p:nvSpPr>
          <p:cNvPr id="42" name="Links Body Box"/>
          <p:cNvSpPr/>
          <p:nvPr/>
        </p:nvSpPr>
        <p:spPr>
          <a:xfrm>
            <a:off x="5715000" y="4526280"/>
            <a:ext cx="6126480" cy="171907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3" name="Links Divider"/>
          <p:cNvSpPr/>
          <p:nvPr/>
        </p:nvSpPr>
        <p:spPr>
          <a:xfrm>
            <a:off x="8778240" y="4526280"/>
            <a:ext cx="0" cy="1719072"/>
          </a:xfrm>
          <a:prstGeom prst="line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4" name="Link 1"/>
          <p:cNvSpPr txBox="1"/>
          <p:nvPr/>
        </p:nvSpPr>
        <p:spPr>
          <a:xfrm>
            <a:off x="5852160" y="45994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5" tooltip="1) AICTE Approval Handboo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1) AICTE Approval Handbook</a:t>
            </a:r>
            <a:endParaRPr lang="en-US" sz="1150" dirty="0"/>
          </a:p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AICTE (Google Drive copy)</a:t>
            </a:r>
            <a:endParaRPr lang="en-US" sz="1150" dirty="0"/>
          </a:p>
        </p:txBody>
      </p:sp>
      <p:sp>
        <p:nvSpPr>
          <p:cNvPr id="45" name="Link 2"/>
          <p:cNvSpPr txBox="1"/>
          <p:nvPr/>
        </p:nvSpPr>
        <p:spPr>
          <a:xfrm>
            <a:off x="5852160" y="5138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6" tooltip="2) PIB Announc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2) PIB Announcement</a:t>
            </a:r>
            <a:endParaRPr lang="en-US" sz="1150" dirty="0"/>
          </a:p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Govt. of India (PIB)</a:t>
            </a:r>
            <a:endParaRPr lang="en-US" sz="1150" dirty="0"/>
          </a:p>
        </p:txBody>
      </p:sp>
      <p:sp>
        <p:nvSpPr>
          <p:cNvPr id="46" name="Link 3"/>
          <p:cNvSpPr txBox="1"/>
          <p:nvPr/>
        </p:nvSpPr>
        <p:spPr>
          <a:xfrm>
            <a:off x="5852160" y="56784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7" tooltip="3) 2026–27 Public Not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3) 2026–27 Public Notice</a:t>
            </a:r>
            <a:endParaRPr lang="en-US" sz="1150" dirty="0"/>
          </a:p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AICTE (aicte.gov.in)</a:t>
            </a:r>
            <a:endParaRPr lang="en-US" sz="1150" dirty="0"/>
          </a:p>
        </p:txBody>
      </p:sp>
      <p:sp>
        <p:nvSpPr>
          <p:cNvPr id="47" name="Link 4"/>
          <p:cNvSpPr txBox="1"/>
          <p:nvPr/>
        </p:nvSpPr>
        <p:spPr>
          <a:xfrm>
            <a:off x="8915400" y="45994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7" tooltip="4) 2026–27 Corrigend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4) 2026–27 Corrigendum</a:t>
            </a:r>
            <a:endParaRPr lang="en-US" sz="1150" dirty="0"/>
          </a:p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AICTE (aicte.gov.in)</a:t>
            </a:r>
            <a:endParaRPr lang="en-US" sz="1150" dirty="0"/>
          </a:p>
        </p:txBody>
      </p:sp>
      <p:sp>
        <p:nvSpPr>
          <p:cNvPr id="48" name="Link 5"/>
          <p:cNvSpPr txBox="1"/>
          <p:nvPr/>
        </p:nvSpPr>
        <p:spPr>
          <a:xfrm>
            <a:off x="8915400" y="5056632"/>
            <a:ext cx="2788920" cy="589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5) GitHub Repository of Prototype:</a:t>
            </a:r>
          </a:p>
          <a:p>
            <a:pPr marL="0" indent="0">
              <a:buNone/>
            </a:pPr>
            <a:endParaRPr lang="en-US" sz="115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713232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  <a:hlinkClick r:id="rId17"/>
              </a:rPr>
              <a:t>Click here!</a:t>
            </a:r>
            <a:endParaRPr lang="en-US" sz="1150" b="1" dirty="0"/>
          </a:p>
        </p:txBody>
      </p:sp>
      <p:sp>
        <p:nvSpPr>
          <p:cNvPr id="49" name="Link 6"/>
          <p:cNvSpPr txBox="1"/>
          <p:nvPr/>
        </p:nvSpPr>
        <p:spPr>
          <a:xfrm>
            <a:off x="8915400" y="5656951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6) Video Demo of the Prototype:</a:t>
            </a:r>
          </a:p>
          <a:p>
            <a:pPr marL="0" indent="0">
              <a:buNone/>
            </a:pPr>
            <a:endParaRPr lang="en-US" sz="115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713232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  <a:hlinkClick r:id="rId8"/>
              </a:rPr>
              <a:t>Click here!</a:t>
            </a:r>
            <a:endParaRPr lang="en-US" sz="1150" dirty="0"/>
          </a:p>
        </p:txBody>
      </p:sp>
      <p:pic>
        <p:nvPicPr>
          <p:cNvPr id="50" name="Status Conventional 1" descr="War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936" y="2052828"/>
            <a:ext cx="182880" cy="182880"/>
          </a:xfrm>
          <a:prstGeom prst="rect">
            <a:avLst/>
          </a:prstGeom>
        </p:spPr>
      </p:pic>
      <p:pic>
        <p:nvPicPr>
          <p:cNvPr id="51" name="Status Proposed 1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2052828"/>
            <a:ext cx="182880" cy="182880"/>
          </a:xfrm>
          <a:prstGeom prst="rect">
            <a:avLst/>
          </a:prstGeom>
        </p:spPr>
      </p:pic>
      <p:pic>
        <p:nvPicPr>
          <p:cNvPr id="52" name="Status Conventional 2" descr="War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936" y="2391156"/>
            <a:ext cx="182880" cy="182880"/>
          </a:xfrm>
          <a:prstGeom prst="rect">
            <a:avLst/>
          </a:prstGeom>
        </p:spPr>
      </p:pic>
      <p:pic>
        <p:nvPicPr>
          <p:cNvPr id="53" name="Status Proposed 2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2391156"/>
            <a:ext cx="182880" cy="182880"/>
          </a:xfrm>
          <a:prstGeom prst="rect">
            <a:avLst/>
          </a:prstGeom>
        </p:spPr>
      </p:pic>
      <p:pic>
        <p:nvPicPr>
          <p:cNvPr id="54" name="Status Conventional 3" descr="Cros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8936" y="2729484"/>
            <a:ext cx="182880" cy="182880"/>
          </a:xfrm>
          <a:prstGeom prst="rect">
            <a:avLst/>
          </a:prstGeom>
        </p:spPr>
      </p:pic>
      <p:pic>
        <p:nvPicPr>
          <p:cNvPr id="55" name="Status Proposed 3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2729484"/>
            <a:ext cx="182880" cy="182880"/>
          </a:xfrm>
          <a:prstGeom prst="rect">
            <a:avLst/>
          </a:prstGeom>
        </p:spPr>
      </p:pic>
      <p:pic>
        <p:nvPicPr>
          <p:cNvPr id="56" name="Status Conventional 4" descr="War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936" y="3067812"/>
            <a:ext cx="182880" cy="182880"/>
          </a:xfrm>
          <a:prstGeom prst="rect">
            <a:avLst/>
          </a:prstGeom>
        </p:spPr>
      </p:pic>
      <p:pic>
        <p:nvPicPr>
          <p:cNvPr id="57" name="Status Proposed 4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3067812"/>
            <a:ext cx="182880" cy="182880"/>
          </a:xfrm>
          <a:prstGeom prst="rect">
            <a:avLst/>
          </a:prstGeom>
        </p:spPr>
      </p:pic>
      <p:pic>
        <p:nvPicPr>
          <p:cNvPr id="58" name="Status Conventional 5" descr="War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936" y="3406140"/>
            <a:ext cx="182880" cy="182880"/>
          </a:xfrm>
          <a:prstGeom prst="rect">
            <a:avLst/>
          </a:prstGeom>
        </p:spPr>
      </p:pic>
      <p:pic>
        <p:nvPicPr>
          <p:cNvPr id="59" name="Status Proposed 5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3406140"/>
            <a:ext cx="182880" cy="182880"/>
          </a:xfrm>
          <a:prstGeom prst="rect">
            <a:avLst/>
          </a:prstGeom>
        </p:spPr>
      </p:pic>
      <p:pic>
        <p:nvPicPr>
          <p:cNvPr id="60" name="Status Conventional 6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8936" y="3744468"/>
            <a:ext cx="182880" cy="182880"/>
          </a:xfrm>
          <a:prstGeom prst="rect">
            <a:avLst/>
          </a:prstGeom>
        </p:spPr>
      </p:pic>
      <p:pic>
        <p:nvPicPr>
          <p:cNvPr id="61" name="Status Proposed 6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3744468"/>
            <a:ext cx="182880" cy="182880"/>
          </a:xfrm>
          <a:prstGeom prst="rect">
            <a:avLst/>
          </a:prstGeom>
        </p:spPr>
      </p:pic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AAA318F-08FE-837A-7FF6-98BC3F75A19A}"/>
              </a:ext>
            </a:extLst>
          </p:cNvPr>
          <p:cNvSpPr/>
          <p:nvPr/>
        </p:nvSpPr>
        <p:spPr>
          <a:xfrm>
            <a:off x="548449" y="1285113"/>
            <a:ext cx="4627245" cy="5200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F6FDE"/>
            </a:solidFill>
          </a:ln>
          <a:effectLst>
            <a:outerShdw blurRad="63500" dist="31750" dir="5400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0000" tIns="36000" rIns="73152" bIns="36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2A5A"/>
                </a:solidFill>
                <a:latin typeface="Arial"/>
                <a:cs typeface="Arial"/>
              </a:rPr>
              <a:t>AICTE Approval Process Handbook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  <a:cs typeface="Arial"/>
              </a:rPr>
              <a:t>Regulatory Stages • EVC • SAC/SHC • Compliance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0D69169-0B83-E523-1D84-A44F932938C8}"/>
              </a:ext>
            </a:extLst>
          </p:cNvPr>
          <p:cNvSpPr/>
          <p:nvPr/>
        </p:nvSpPr>
        <p:spPr>
          <a:xfrm>
            <a:off x="548449" y="1973113"/>
            <a:ext cx="4627245" cy="5200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0F9D8A"/>
            </a:solidFill>
          </a:ln>
          <a:effectLst>
            <a:outerShdw blurRad="63500" dist="31750" dir="5400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0000" tIns="36000" rIns="73152" bIns="36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2A5A"/>
                </a:solidFill>
                <a:latin typeface="Arial"/>
                <a:cs typeface="Arial"/>
              </a:rPr>
              <a:t>Workflow Automation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  <a:cs typeface="Arial"/>
              </a:rPr>
              <a:t>Application Routing • Scrutiny • Returns • Re-scrutiny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4C93E30-F638-CE74-312E-273AA587036B}"/>
              </a:ext>
            </a:extLst>
          </p:cNvPr>
          <p:cNvSpPr/>
          <p:nvPr/>
        </p:nvSpPr>
        <p:spPr>
          <a:xfrm>
            <a:off x="548449" y="2661113"/>
            <a:ext cx="4627245" cy="5200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E8743B"/>
            </a:solidFill>
          </a:ln>
          <a:effectLst>
            <a:outerShdw blurRad="63500" dist="31750" dir="5400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0000" tIns="36000" rIns="73152" bIns="36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2A5A"/>
                </a:solidFill>
                <a:latin typeface="Arial"/>
                <a:cs typeface="Arial"/>
              </a:rPr>
              <a:t>Deadline &amp; Escalation Engine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  <a:cs typeface="Arial"/>
              </a:rPr>
              <a:t>Reminders • SLA Monitoring • Overdue Alerts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A41078E-3E53-CD80-9DBA-FB06049101E9}"/>
              </a:ext>
            </a:extLst>
          </p:cNvPr>
          <p:cNvSpPr/>
          <p:nvPr/>
        </p:nvSpPr>
        <p:spPr>
          <a:xfrm>
            <a:off x="548449" y="3349113"/>
            <a:ext cx="4627245" cy="5200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E9E5B"/>
            </a:solidFill>
          </a:ln>
          <a:effectLst>
            <a:outerShdw blurRad="63500" dist="31750" dir="5400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0000" tIns="36000" rIns="73152" bIns="36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2A5A"/>
                </a:solidFill>
                <a:latin typeface="Arial"/>
                <a:cs typeface="Arial"/>
              </a:rPr>
              <a:t>Auditability &amp; Human Oversight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  <a:cs typeface="Arial"/>
              </a:rPr>
              <a:t>Traceable Actions • Evidence Verification • Human Decisions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F1D629D-9124-FE16-05F3-49523FB25F7D}"/>
              </a:ext>
            </a:extLst>
          </p:cNvPr>
          <p:cNvCxnSpPr/>
          <p:nvPr/>
        </p:nvCxnSpPr>
        <p:spPr>
          <a:xfrm>
            <a:off x="2862071" y="1805113"/>
            <a:ext cx="0" cy="1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11A81D3-11F3-7C52-0CA7-50DA4920B927}"/>
              </a:ext>
            </a:extLst>
          </p:cNvPr>
          <p:cNvCxnSpPr/>
          <p:nvPr/>
        </p:nvCxnSpPr>
        <p:spPr>
          <a:xfrm>
            <a:off x="2862071" y="2493113"/>
            <a:ext cx="0" cy="1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3085BE1-45FA-0E8C-B135-E804772822D2}"/>
              </a:ext>
            </a:extLst>
          </p:cNvPr>
          <p:cNvCxnSpPr/>
          <p:nvPr/>
        </p:nvCxnSpPr>
        <p:spPr>
          <a:xfrm>
            <a:off x="2862071" y="3181113"/>
            <a:ext cx="0" cy="1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D9CF201-A5F4-6162-DDA7-A08FA6F09D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274" y="3435545"/>
            <a:ext cx="358349" cy="3583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B1BBA3-8734-AAE2-B92A-0C7AECCABB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513" y="2729484"/>
            <a:ext cx="497818" cy="428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EC13D9-40F4-8B2C-86B0-EA78F2B42AC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7520" t="5346" r="25978" b="4718"/>
          <a:stretch>
            <a:fillRect/>
          </a:stretch>
        </p:blipFill>
        <p:spPr>
          <a:xfrm>
            <a:off x="606381" y="2017217"/>
            <a:ext cx="431242" cy="437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CDB276-8B48-88E4-E091-B0533A5FE3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9228" y="1333054"/>
            <a:ext cx="778439" cy="4378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F7DF00-717E-9F3B-69D0-46E2EE5558A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5420" t="2704" r="14160" b="20910"/>
          <a:stretch>
            <a:fillRect/>
          </a:stretch>
        </p:blipFill>
        <p:spPr>
          <a:xfrm>
            <a:off x="9232696" y="5921293"/>
            <a:ext cx="340742" cy="2729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B8151B-118C-41C7-912C-30C4BFDB5F5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5420" t="2704" r="14160" b="20910"/>
          <a:stretch>
            <a:fillRect/>
          </a:stretch>
        </p:blipFill>
        <p:spPr>
          <a:xfrm>
            <a:off x="9232696" y="5363635"/>
            <a:ext cx="340742" cy="272962"/>
          </a:xfrm>
          <a:prstGeom prst="rect">
            <a:avLst/>
          </a:prstGeom>
        </p:spPr>
      </p:pic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18858ACF-2C11-B502-2399-A3AC2D80DE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252246"/>
            <a:ext cx="17663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9FB7F5-B97E-CB62-F2DA-AA91E56A7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4" name="Footer Team"/>
          <p:cNvSpPr txBox="1"/>
          <p:nvPr/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radeGothic"/>
              </a:rPr>
              <a:t>@GeoLogics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Trade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7950</TotalTime>
  <Words>1227</Words>
  <Application>Microsoft Office PowerPoint</Application>
  <PresentationFormat>Widescreen</PresentationFormat>
  <Paragraphs>184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AICTE APPROVAL AND OPERATIONS COMPLIANCE PLATFORM </vt:lpstr>
      <vt:lpstr>TECHNICAL APPROACH</vt:lpstr>
      <vt:lpstr>FEASIBILITY AND VIABILITY</vt:lpstr>
      <vt:lpstr>IMPACT AND BENEFITS</vt:lpstr>
      <vt:lpstr>RESEARCH AND REFERENCES</vt:lpstr>
    </vt:vector>
  </TitlesOfParts>
  <Manager/>
  <Company>Team GeoLogics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Team GeoLogics</dc:creator>
  <cp:keywords/>
  <dc:description/>
  <cp:lastModifiedBy>Team GeoLogics</cp:lastModifiedBy>
  <cp:revision>153</cp:revision>
  <dcterms:created xsi:type="dcterms:W3CDTF">2013-12-12T18:46:50Z</dcterms:created>
  <dcterms:modified xsi:type="dcterms:W3CDTF">2026-10-26T03:59:28Z</dcterms:modified>
  <cp:category/>
</cp:coreProperties>
</file>